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sym typeface="+mn-ea"/>
              </a:rPr>
              <a:t>GhostNetV2</a:t>
            </a:r>
            <a:endParaRPr lang="en-US" altLang="zh-CN">
              <a:sym typeface="+mn-ea"/>
            </a:endParaRPr>
          </a:p>
          <a:p>
            <a:r>
              <a:rPr lang="en-US" altLang="zh-CN">
                <a:sym typeface="+mn-ea"/>
              </a:rPr>
              <a:t>GhostNetV1</a:t>
            </a:r>
            <a:r>
              <a:rPr lang="zh-CN" altLang="en-US">
                <a:sym typeface="+mn-ea"/>
              </a:rPr>
              <a:t>的局限性</a:t>
            </a:r>
            <a:r>
              <a:rPr lang="en-US" altLang="zh-CN">
                <a:sym typeface="+mn-ea"/>
              </a:rPr>
              <a:t>:</a:t>
            </a:r>
            <a:endParaRPr lang="en-US" altLang="zh-CN">
              <a:sym typeface="+mn-ea"/>
            </a:endParaRPr>
          </a:p>
          <a:p>
            <a:endParaRPr lang="en-US" altLang="zh-CN">
              <a:sym typeface="+mn-ea"/>
            </a:endParaRPr>
          </a:p>
          <a:p>
            <a:r>
              <a:rPr lang="zh-CN" altLang="en-US">
                <a:sym typeface="+mn-ea"/>
              </a:rPr>
              <a:t>原始的</a:t>
            </a:r>
            <a:r>
              <a:rPr lang="en-US" altLang="zh-CN">
                <a:sym typeface="+mn-ea"/>
              </a:rPr>
              <a:t>GhostNet</a:t>
            </a:r>
            <a:r>
              <a:rPr lang="zh-CN" altLang="en-US">
                <a:sym typeface="+mn-ea"/>
              </a:rPr>
              <a:t>（</a:t>
            </a:r>
            <a:r>
              <a:rPr lang="en-US" altLang="zh-CN">
                <a:sym typeface="+mn-ea"/>
              </a:rPr>
              <a:t>V1</a:t>
            </a:r>
            <a:r>
              <a:rPr lang="zh-CN" altLang="en-US">
                <a:sym typeface="+mn-ea"/>
              </a:rPr>
              <a:t>）通过</a:t>
            </a:r>
            <a:r>
              <a:rPr lang="en-US" altLang="zh-CN">
                <a:sym typeface="+mn-ea"/>
              </a:rPr>
              <a:t>“cheap operations”</a:t>
            </a:r>
            <a:r>
              <a:rPr lang="zh-CN" altLang="en-US">
                <a:sym typeface="+mn-ea"/>
              </a:rPr>
              <a:t>（廉价的线性变换）来生成冗余的特征图，极大地降低了计算成本和参数量，在保持轻量级的同时取得了优异的性能。</a:t>
            </a:r>
            <a:endParaRPr lang="zh-CN" altLang="en-US">
              <a:sym typeface="+mn-ea"/>
            </a:endParaRPr>
          </a:p>
          <a:p>
            <a:r>
              <a:rPr lang="zh-CN" altLang="en-US">
                <a:sym typeface="+mn-ea"/>
              </a:rPr>
              <a:t>然而，其核心的</a:t>
            </a:r>
            <a:r>
              <a:rPr lang="en-US" altLang="zh-CN">
                <a:sym typeface="+mn-ea"/>
              </a:rPr>
              <a:t>Ghost</a:t>
            </a:r>
            <a:r>
              <a:rPr lang="zh-CN" altLang="en-US">
                <a:sym typeface="+mn-ea"/>
              </a:rPr>
              <a:t>模块在捕获长距离依赖关系（</a:t>
            </a:r>
            <a:r>
              <a:rPr lang="en-US" altLang="zh-CN">
                <a:sym typeface="+mn-ea"/>
              </a:rPr>
              <a:t>long-range dependencies</a:t>
            </a:r>
            <a:r>
              <a:rPr lang="zh-CN" altLang="en-US">
                <a:sym typeface="+mn-ea"/>
              </a:rPr>
              <a:t>）方面能力较弱。这是因为其操作本质上是局部的，缺乏像自注意力（</a:t>
            </a:r>
            <a:r>
              <a:rPr lang="en-US" altLang="zh-CN">
                <a:sym typeface="+mn-ea"/>
              </a:rPr>
              <a:t>Self-Attention</a:t>
            </a:r>
            <a:r>
              <a:rPr lang="zh-CN" altLang="en-US">
                <a:sym typeface="+mn-ea"/>
              </a:rPr>
              <a:t>）那样的全局信息交互能力。这在处理需要理解图像全局上下文的任务（如场景分割、大规模物体检测）时成为一个瓶颈。</a:t>
            </a:r>
            <a:endParaRPr lang="zh-CN" altLang="en-US">
              <a:sym typeface="+mn-ea"/>
            </a:endParaRPr>
          </a:p>
          <a:p>
            <a:r>
              <a:rPr lang="en-US" altLang="zh-CN">
                <a:sym typeface="+mn-ea"/>
              </a:rPr>
              <a:t>V2</a:t>
            </a:r>
            <a:r>
              <a:rPr lang="zh-CN" altLang="en-US">
                <a:sym typeface="+mn-ea"/>
              </a:rPr>
              <a:t>的解决方案</a:t>
            </a:r>
            <a:r>
              <a:rPr lang="en-US" altLang="zh-CN">
                <a:sym typeface="+mn-ea"/>
              </a:rPr>
              <a:t>:</a:t>
            </a:r>
            <a:endParaRPr lang="en-US" altLang="zh-CN">
              <a:sym typeface="+mn-ea"/>
            </a:endParaRPr>
          </a:p>
          <a:p>
            <a:endParaRPr lang="en-US" altLang="zh-CN">
              <a:sym typeface="+mn-ea"/>
            </a:endParaRPr>
          </a:p>
          <a:p>
            <a:r>
              <a:rPr lang="en-US" altLang="zh-CN">
                <a:sym typeface="+mn-ea"/>
              </a:rPr>
              <a:t>GhostNetV2</a:t>
            </a:r>
            <a:r>
              <a:rPr lang="zh-CN" altLang="en-US">
                <a:sym typeface="+mn-ea"/>
              </a:rPr>
              <a:t>的核心理念是：在保持</a:t>
            </a:r>
            <a:r>
              <a:rPr lang="en-US" altLang="zh-CN">
                <a:sym typeface="+mn-ea"/>
              </a:rPr>
              <a:t>V1</a:t>
            </a:r>
            <a:r>
              <a:rPr lang="zh-CN" altLang="en-US">
                <a:sym typeface="+mn-ea"/>
              </a:rPr>
              <a:t>轻量化优势的基础上，为其注入强大的长距离建模能力。</a:t>
            </a:r>
            <a:endParaRPr lang="zh-CN" altLang="en-US">
              <a:sym typeface="+mn-ea"/>
            </a:endParaRPr>
          </a:p>
          <a:p>
            <a:r>
              <a:rPr lang="zh-CN" altLang="en-US">
                <a:sym typeface="+mn-ea"/>
              </a:rPr>
              <a:t>它没有简单地用计算量巨大的标准自注意力替换原有模块，而是提出了一种新颖的</a:t>
            </a:r>
            <a:r>
              <a:rPr lang="en-US" altLang="zh-CN">
                <a:sym typeface="+mn-ea"/>
              </a:rPr>
              <a:t> “</a:t>
            </a:r>
            <a:r>
              <a:rPr lang="zh-CN" altLang="en-US">
                <a:sym typeface="+mn-ea"/>
              </a:rPr>
              <a:t>解耦聚合</a:t>
            </a:r>
            <a:r>
              <a:rPr lang="en-US" altLang="zh-CN">
                <a:sym typeface="+mn-ea"/>
              </a:rPr>
              <a:t>”</a:t>
            </a:r>
            <a:r>
              <a:rPr lang="zh-CN" altLang="en-US">
                <a:sym typeface="+mn-ea"/>
              </a:rPr>
              <a:t>（</a:t>
            </a:r>
            <a:r>
              <a:rPr lang="en-US" altLang="zh-CN">
                <a:sym typeface="+mn-ea"/>
              </a:rPr>
              <a:t>Decoupled Aggregate, DFA</a:t>
            </a:r>
            <a:r>
              <a:rPr lang="zh-CN" altLang="en-US">
                <a:sym typeface="+mn-ea"/>
              </a:rPr>
              <a:t>）模块，作为一个即插即用的组件，与原有的</a:t>
            </a:r>
            <a:r>
              <a:rPr lang="en-US" altLang="zh-CN">
                <a:sym typeface="+mn-ea"/>
              </a:rPr>
              <a:t>Ghost</a:t>
            </a:r>
            <a:r>
              <a:rPr lang="zh-CN" altLang="en-US">
                <a:sym typeface="+mn-ea"/>
              </a:rPr>
              <a:t>模块协同工作。</a:t>
            </a:r>
            <a:endParaRPr lang="zh-CN" altLang="en-US">
              <a:sym typeface="+mn-ea"/>
            </a:endParaRPr>
          </a:p>
          <a:p>
            <a:r>
              <a:rPr lang="zh-CN" altLang="en-US">
                <a:sym typeface="+mn-ea"/>
              </a:rPr>
              <a:t>关键技术：解耦聚合模块</a:t>
            </a:r>
            <a:endParaRPr lang="zh-CN" altLang="en-US">
              <a:sym typeface="+mn-ea"/>
            </a:endParaRPr>
          </a:p>
          <a:p>
            <a:r>
              <a:rPr lang="en-US" altLang="zh-CN">
                <a:sym typeface="+mn-ea"/>
              </a:rPr>
              <a:t>DFA</a:t>
            </a:r>
            <a:r>
              <a:rPr lang="zh-CN" altLang="en-US">
                <a:sym typeface="+mn-ea"/>
              </a:rPr>
              <a:t>模块的设计非常巧妙，旨在以极低的计算成本实现跨空间的长距离信息交互。其主要工作流程可以简化为：</a:t>
            </a:r>
            <a:endParaRPr lang="zh-CN" altLang="en-US">
              <a:sym typeface="+mn-ea"/>
            </a:endParaRPr>
          </a:p>
          <a:p>
            <a:endParaRPr lang="en-US" altLang="zh-CN">
              <a:sym typeface="+mn-ea"/>
            </a:endParaRPr>
          </a:p>
          <a:p>
            <a:r>
              <a:rPr lang="zh-CN" altLang="en-US">
                <a:sym typeface="+mn-ea"/>
              </a:rPr>
              <a:t>解耦（</a:t>
            </a:r>
            <a:r>
              <a:rPr lang="en-US" altLang="zh-CN">
                <a:sym typeface="+mn-ea"/>
              </a:rPr>
              <a:t>Decouple</a:t>
            </a:r>
            <a:r>
              <a:rPr lang="zh-CN" altLang="en-US">
                <a:sym typeface="+mn-ea"/>
              </a:rPr>
              <a:t>）</a:t>
            </a:r>
            <a:r>
              <a:rPr lang="en-US" altLang="zh-CN">
                <a:sym typeface="+mn-ea"/>
              </a:rPr>
              <a:t>:</a:t>
            </a:r>
            <a:endParaRPr lang="en-US" altLang="zh-CN">
              <a:sym typeface="+mn-ea"/>
            </a:endParaRPr>
          </a:p>
          <a:p>
            <a:endParaRPr lang="en-US" altLang="zh-CN">
              <a:sym typeface="+mn-ea"/>
            </a:endParaRPr>
          </a:p>
          <a:p>
            <a:r>
              <a:rPr lang="zh-CN" altLang="en-US">
                <a:sym typeface="+mn-ea"/>
              </a:rPr>
              <a:t>将输入特征图在通道维度上拆分成两部分。</a:t>
            </a:r>
            <a:endParaRPr lang="zh-CN" altLang="en-US">
              <a:sym typeface="+mn-ea"/>
            </a:endParaRPr>
          </a:p>
          <a:p>
            <a:r>
              <a:rPr lang="zh-CN" altLang="en-US">
                <a:sym typeface="+mn-ea"/>
              </a:rPr>
              <a:t>一部分保持不变，送给原始的</a:t>
            </a:r>
            <a:r>
              <a:rPr lang="en-US" altLang="zh-CN">
                <a:sym typeface="+mn-ea"/>
              </a:rPr>
              <a:t>Ghost</a:t>
            </a:r>
            <a:r>
              <a:rPr lang="zh-CN" altLang="en-US">
                <a:sym typeface="+mn-ea"/>
              </a:rPr>
              <a:t>模块，用于捕获局部特征和生成冗余特征图（保留了</a:t>
            </a:r>
            <a:r>
              <a:rPr lang="en-US" altLang="zh-CN">
                <a:sym typeface="+mn-ea"/>
              </a:rPr>
              <a:t>V1</a:t>
            </a:r>
            <a:r>
              <a:rPr lang="zh-CN" altLang="en-US">
                <a:sym typeface="+mn-ea"/>
              </a:rPr>
              <a:t>的高效性）。</a:t>
            </a:r>
            <a:endParaRPr lang="zh-CN" altLang="en-US">
              <a:sym typeface="+mn-ea"/>
            </a:endParaRPr>
          </a:p>
          <a:p>
            <a:r>
              <a:rPr lang="zh-CN" altLang="en-US">
                <a:sym typeface="+mn-ea"/>
              </a:rPr>
              <a:t>另一部分则送入新的</a:t>
            </a:r>
            <a:r>
              <a:rPr lang="en-US" altLang="zh-CN">
                <a:sym typeface="+mn-ea"/>
              </a:rPr>
              <a:t>DFA</a:t>
            </a:r>
            <a:r>
              <a:rPr lang="zh-CN" altLang="en-US">
                <a:sym typeface="+mn-ea"/>
              </a:rPr>
              <a:t>分支，用于处理长距离依赖。</a:t>
            </a:r>
            <a:endParaRPr lang="zh-CN" altLang="en-US">
              <a:sym typeface="+mn-ea"/>
            </a:endParaRPr>
          </a:p>
          <a:p>
            <a:r>
              <a:rPr lang="zh-CN" altLang="en-US">
                <a:sym typeface="+mn-ea"/>
              </a:rPr>
              <a:t>聚合（</a:t>
            </a:r>
            <a:r>
              <a:rPr lang="en-US" altLang="zh-CN">
                <a:sym typeface="+mn-ea"/>
              </a:rPr>
              <a:t>Aggregate</a:t>
            </a:r>
            <a:r>
              <a:rPr lang="zh-CN" altLang="en-US">
                <a:sym typeface="+mn-ea"/>
              </a:rPr>
              <a:t>）</a:t>
            </a:r>
            <a:r>
              <a:rPr lang="en-US" altLang="zh-CN">
                <a:sym typeface="+mn-ea"/>
              </a:rPr>
              <a:t>:</a:t>
            </a:r>
            <a:endParaRPr lang="en-US" altLang="zh-CN">
              <a:sym typeface="+mn-ea"/>
            </a:endParaRPr>
          </a:p>
          <a:p>
            <a:endParaRPr lang="en-US" altLang="zh-CN">
              <a:sym typeface="+mn-ea"/>
            </a:endParaRPr>
          </a:p>
          <a:p>
            <a:r>
              <a:rPr lang="zh-CN" altLang="en-US">
                <a:sym typeface="+mn-ea"/>
              </a:rPr>
              <a:t>在</a:t>
            </a:r>
            <a:r>
              <a:rPr lang="en-US" altLang="zh-CN">
                <a:sym typeface="+mn-ea"/>
              </a:rPr>
              <a:t>DFA</a:t>
            </a:r>
            <a:r>
              <a:rPr lang="zh-CN" altLang="en-US">
                <a:sym typeface="+mn-ea"/>
              </a:rPr>
              <a:t>分支中，它采用了一种硬件友好型的长距离注意力机制。</a:t>
            </a:r>
            <a:endParaRPr lang="zh-CN" altLang="en-US">
              <a:sym typeface="+mn-ea"/>
            </a:endParaRPr>
          </a:p>
          <a:p>
            <a:r>
              <a:rPr lang="zh-CN" altLang="en-US">
                <a:sym typeface="+mn-ea"/>
              </a:rPr>
              <a:t>该机制首先通过一个全连接层或</a:t>
            </a:r>
            <a:r>
              <a:rPr lang="en-US" altLang="zh-CN">
                <a:sym typeface="+mn-ea"/>
              </a:rPr>
              <a:t>1x1</a:t>
            </a:r>
            <a:r>
              <a:rPr lang="zh-CN" altLang="en-US">
                <a:sym typeface="+mn-ea"/>
              </a:rPr>
              <a:t>卷积进行跨通道信息整合。</a:t>
            </a:r>
            <a:endParaRPr lang="zh-CN" altLang="en-US">
              <a:sym typeface="+mn-ea"/>
            </a:endParaRPr>
          </a:p>
          <a:p>
            <a:r>
              <a:rPr lang="zh-CN" altLang="en-US">
                <a:sym typeface="+mn-ea"/>
              </a:rPr>
              <a:t>然后，它在水平（</a:t>
            </a:r>
            <a:r>
              <a:rPr lang="en-US" altLang="zh-CN">
                <a:sym typeface="+mn-ea"/>
              </a:rPr>
              <a:t>H</a:t>
            </a:r>
            <a:r>
              <a:rPr lang="zh-CN" altLang="en-US">
                <a:sym typeface="+mn-ea"/>
              </a:rPr>
              <a:t>）和垂直（</a:t>
            </a:r>
            <a:r>
              <a:rPr lang="en-US" altLang="zh-CN">
                <a:sym typeface="+mn-ea"/>
              </a:rPr>
              <a:t>W</a:t>
            </a:r>
            <a:r>
              <a:rPr lang="zh-CN" altLang="en-US">
                <a:sym typeface="+mn-ea"/>
              </a:rPr>
              <a:t>）方向上分别应用全局平均池化，生成两个方向上的全局特征序列。</a:t>
            </a:r>
            <a:endParaRPr lang="zh-CN" altLang="en-US">
              <a:sym typeface="+mn-ea"/>
            </a:endParaRPr>
          </a:p>
          <a:p>
            <a:r>
              <a:rPr lang="zh-CN" altLang="en-US">
                <a:sym typeface="+mn-ea"/>
              </a:rPr>
              <a:t>接着，对这两个序列分别使用一维卷积或其他轻量级操作来建模方向上的依赖关系。</a:t>
            </a:r>
            <a:endParaRPr lang="zh-CN" altLang="en-US">
              <a:sym typeface="+mn-ea"/>
            </a:endParaRPr>
          </a:p>
          <a:p>
            <a:r>
              <a:rPr lang="zh-CN" altLang="en-US">
                <a:sym typeface="+mn-ea"/>
              </a:rPr>
              <a:t>最后，将这两个方向的特征融合，并通过</a:t>
            </a:r>
            <a:r>
              <a:rPr lang="en-US" altLang="zh-CN">
                <a:sym typeface="+mn-ea"/>
              </a:rPr>
              <a:t>Sigmoid</a:t>
            </a:r>
            <a:r>
              <a:rPr lang="zh-CN" altLang="en-US">
                <a:sym typeface="+mn-ea"/>
              </a:rPr>
              <a:t>函数生成一个空间注意力图。</a:t>
            </a:r>
            <a:r>
              <a:rPr lang="en-US" altLang="zh-CN">
                <a:sym typeface="+mn-ea"/>
              </a:rPr>
              <a:t>MobileNets:</a:t>
            </a:r>
            <a:endParaRPr lang="zh-CN" altLang="en-US"/>
          </a:p>
          <a:p>
            <a:r>
              <a:rPr lang="zh-CN" altLang="en-US"/>
              <a:t>它提出了一个革命性的概念：深度可分离卷积。这个结构将一个标准卷积分解为两步：</a:t>
            </a:r>
            <a:endParaRPr lang="zh-CN" altLang="en-US"/>
          </a:p>
          <a:p>
            <a:r>
              <a:rPr lang="zh-CN" altLang="en-US"/>
              <a:t>深度卷积：一个卷积核只负责一个输入通道。</a:t>
            </a:r>
            <a:endParaRPr lang="zh-CN" altLang="en-US"/>
          </a:p>
          <a:p>
            <a:r>
              <a:rPr lang="zh-CN" altLang="en-US"/>
              <a:t>逐点卷积：使用</a:t>
            </a:r>
            <a:r>
              <a:rPr lang="en-US" altLang="zh-CN"/>
              <a:t>1x1</a:t>
            </a:r>
            <a:r>
              <a:rPr lang="zh-CN" altLang="en-US"/>
              <a:t>卷积来整合深度卷积的输出。</a:t>
            </a:r>
            <a:endParaRPr lang="zh-CN" altLang="en-US"/>
          </a:p>
          <a:p>
            <a:r>
              <a:rPr lang="zh-CN" altLang="en-US"/>
              <a:t>通过一个简单的比喻就能理解：传统卷积是</a:t>
            </a:r>
            <a:r>
              <a:rPr lang="en-US" altLang="zh-CN"/>
              <a:t>“</a:t>
            </a:r>
            <a:r>
              <a:rPr lang="zh-CN" altLang="en-US"/>
              <a:t>一口气</a:t>
            </a:r>
            <a:r>
              <a:rPr lang="en-US" altLang="zh-CN"/>
              <a:t>”</a:t>
            </a:r>
            <a:r>
              <a:rPr lang="zh-CN" altLang="en-US"/>
              <a:t>完成滤波和组合，而深度可分离卷积是</a:t>
            </a:r>
            <a:r>
              <a:rPr lang="en-US" altLang="zh-CN"/>
              <a:t>“</a:t>
            </a:r>
            <a:r>
              <a:rPr lang="zh-CN" altLang="en-US"/>
              <a:t>先逐个过滤，再统一混合</a:t>
            </a:r>
            <a:r>
              <a:rPr lang="en-US" altLang="zh-CN"/>
              <a:t>”</a:t>
            </a:r>
            <a:r>
              <a:rPr lang="zh-CN" altLang="en-US"/>
              <a:t>，大大减少了计算量。</a:t>
            </a:r>
            <a:endParaRPr lang="zh-CN" altLang="en-US"/>
          </a:p>
          <a:p>
            <a:r>
              <a:rPr lang="zh-CN" altLang="en-US"/>
              <a:t>引入了两个直观的超参数：</a:t>
            </a:r>
            <a:endParaRPr lang="zh-CN" altLang="en-US"/>
          </a:p>
          <a:p>
            <a:endParaRPr lang="en-US" altLang="zh-CN"/>
          </a:p>
          <a:p>
            <a:r>
              <a:rPr lang="zh-CN" altLang="en-US"/>
              <a:t>宽度乘子：用于均匀地减少每一层的通道数，从而让模型更</a:t>
            </a:r>
            <a:r>
              <a:rPr lang="en-US" altLang="zh-CN"/>
              <a:t>“</a:t>
            </a:r>
            <a:r>
              <a:rPr lang="zh-CN" altLang="en-US"/>
              <a:t>瘦</a:t>
            </a:r>
            <a:r>
              <a:rPr lang="en-US" altLang="zh-CN"/>
              <a:t>”</a:t>
            </a:r>
            <a:r>
              <a:rPr lang="zh-CN" altLang="en-US"/>
              <a:t>。</a:t>
            </a:r>
            <a:endParaRPr lang="zh-CN" altLang="en-US"/>
          </a:p>
          <a:p>
            <a:r>
              <a:rPr lang="zh-CN" altLang="en-US"/>
              <a:t>分辨率乘子：用于降低输入图像的分辨率，从而减少计算量。</a:t>
            </a:r>
            <a:endParaRPr lang="zh-CN" altLang="en-US"/>
          </a:p>
          <a:p>
            <a:r>
              <a:rPr lang="zh-CN" altLang="en-US"/>
              <a:t>这两个参数让模型大小的调整变得非常灵活和易于理解。</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①</a:t>
            </a:r>
            <a:r>
              <a:rPr lang="en-US" altLang="zh-CN"/>
              <a:t> </a:t>
            </a:r>
            <a:r>
              <a:rPr lang="zh-CN" altLang="en-US"/>
              <a:t>为什么先要提升维度（扩展通道数）？</a:t>
            </a:r>
            <a:endParaRPr lang="zh-CN" altLang="en-US"/>
          </a:p>
          <a:p>
            <a:endParaRPr lang="en-US" altLang="zh-CN"/>
          </a:p>
          <a:p>
            <a:r>
              <a:rPr lang="zh-CN" altLang="en-US"/>
              <a:t>这背后是表征学习的核心思想。您可以想象一个工作任务：</a:t>
            </a:r>
            <a:endParaRPr lang="zh-CN" altLang="en-US"/>
          </a:p>
          <a:p>
            <a:endParaRPr lang="en-US" altLang="zh-CN"/>
          </a:p>
          <a:p>
            <a:r>
              <a:rPr lang="zh-CN" altLang="en-US"/>
              <a:t>低维度（如原始输入）：好比一个狭窄的走廊，人多（信息多）时会拥挤不堪，难以施展和处理复杂任务。</a:t>
            </a:r>
            <a:endParaRPr lang="zh-CN" altLang="en-US"/>
          </a:p>
          <a:p>
            <a:r>
              <a:rPr lang="zh-CN" altLang="en-US"/>
              <a:t>高维度（扩展后）：好比一个宽敞的大厅，将信息映射到更广阔的空间里，使得网络能够更轻松地分离和提炼出有用的特征，从而增强模型的非线性拟合能力。后续的</a:t>
            </a:r>
            <a:r>
              <a:rPr lang="en-US" altLang="zh-CN"/>
              <a:t>“</a:t>
            </a:r>
            <a:r>
              <a:rPr lang="zh-CN" altLang="en-US"/>
              <a:t>压缩</a:t>
            </a:r>
            <a:r>
              <a:rPr lang="en-US" altLang="zh-CN"/>
              <a:t>”</a:t>
            </a:r>
            <a:r>
              <a:rPr lang="zh-CN" altLang="en-US"/>
              <a:t>操作，是在这个</a:t>
            </a:r>
            <a:r>
              <a:rPr lang="en-US" altLang="zh-CN"/>
              <a:t>“</a:t>
            </a:r>
            <a:r>
              <a:rPr lang="zh-CN" altLang="en-US"/>
              <a:t>精炼</a:t>
            </a:r>
            <a:r>
              <a:rPr lang="en-US" altLang="zh-CN"/>
              <a:t>”</a:t>
            </a:r>
            <a:r>
              <a:rPr lang="zh-CN" altLang="en-US"/>
              <a:t>过的信息基础上，再高效地降回原始维度。</a:t>
            </a:r>
            <a:endParaRPr lang="zh-CN" altLang="en-US"/>
          </a:p>
          <a:p>
            <a:r>
              <a:rPr lang="en-US" altLang="en-US"/>
              <a:t>②</a:t>
            </a:r>
            <a:r>
              <a:rPr lang="en-US" altLang="zh-CN"/>
              <a:t> </a:t>
            </a:r>
            <a:r>
              <a:rPr lang="zh-CN" altLang="en-US"/>
              <a:t>为什么要做</a:t>
            </a:r>
            <a:r>
              <a:rPr lang="en-US" altLang="zh-CN"/>
              <a:t>BN</a:t>
            </a:r>
            <a:r>
              <a:rPr lang="zh-CN" altLang="en-US"/>
              <a:t>和</a:t>
            </a:r>
            <a:r>
              <a:rPr lang="en-US" altLang="zh-CN"/>
              <a:t>ReLU</a:t>
            </a:r>
            <a:r>
              <a:rPr lang="zh-CN" altLang="en-US"/>
              <a:t>？</a:t>
            </a:r>
            <a:endParaRPr lang="zh-CN" altLang="en-US"/>
          </a:p>
          <a:p>
            <a:endParaRPr lang="en-US" altLang="zh-CN"/>
          </a:p>
          <a:p>
            <a:r>
              <a:rPr lang="en-US" altLang="zh-CN"/>
              <a:t>BN (</a:t>
            </a:r>
            <a:r>
              <a:rPr lang="zh-CN" altLang="en-US"/>
              <a:t>批归一化</a:t>
            </a:r>
            <a:r>
              <a:rPr lang="en-US" altLang="zh-CN"/>
              <a:t>)</a:t>
            </a:r>
            <a:r>
              <a:rPr lang="zh-CN" altLang="en-US"/>
              <a:t>：核心目的是稳定训练过程。它将每一批数据的分布调整到均值为</a:t>
            </a:r>
            <a:r>
              <a:rPr lang="en-US" altLang="zh-CN"/>
              <a:t>0</a:t>
            </a:r>
            <a:r>
              <a:rPr lang="zh-CN" altLang="en-US"/>
              <a:t>、方差为</a:t>
            </a:r>
            <a:r>
              <a:rPr lang="en-US" altLang="zh-CN"/>
              <a:t>1</a:t>
            </a:r>
            <a:r>
              <a:rPr lang="zh-CN" altLang="en-US"/>
              <a:t>，解决</a:t>
            </a:r>
            <a:r>
              <a:rPr lang="en-US" altLang="zh-CN"/>
              <a:t>“</a:t>
            </a:r>
            <a:r>
              <a:rPr lang="zh-CN" altLang="en-US"/>
              <a:t>内部协变量偏移</a:t>
            </a:r>
            <a:r>
              <a:rPr lang="en-US" altLang="zh-CN"/>
              <a:t>”</a:t>
            </a:r>
            <a:r>
              <a:rPr lang="zh-CN" altLang="en-US"/>
              <a:t>问题，让网络训练更快、更稳定。</a:t>
            </a:r>
            <a:endParaRPr lang="zh-CN" altLang="en-US"/>
          </a:p>
          <a:p>
            <a:r>
              <a:rPr lang="en-US" altLang="zh-CN"/>
              <a:t>ReLU (</a:t>
            </a:r>
            <a:r>
              <a:rPr lang="zh-CN" altLang="en-US"/>
              <a:t>激活函数</a:t>
            </a:r>
            <a:r>
              <a:rPr lang="en-US" altLang="zh-CN"/>
              <a:t>)</a:t>
            </a:r>
            <a:r>
              <a:rPr lang="zh-CN" altLang="en-US"/>
              <a:t>：核心目的是引入非线性。如果没有非线性激活函数，无论网络多深，整体仍然是一个线性变换，拟合复杂函数的能力极弱。</a:t>
            </a:r>
            <a:r>
              <a:rPr lang="en-US" altLang="zh-CN"/>
              <a:t>ReLU</a:t>
            </a:r>
            <a:r>
              <a:rPr lang="zh-CN" altLang="en-US"/>
              <a:t>通过</a:t>
            </a:r>
            <a:r>
              <a:rPr lang="en-US" altLang="zh-CN"/>
              <a:t>“</a:t>
            </a:r>
            <a:r>
              <a:rPr lang="zh-CN" altLang="en-US"/>
              <a:t>过滤</a:t>
            </a:r>
            <a:r>
              <a:rPr lang="en-US" altLang="zh-CN"/>
              <a:t>”</a:t>
            </a:r>
            <a:r>
              <a:rPr lang="zh-CN" altLang="en-US"/>
              <a:t>负值、保留正值，极大地增强了网络的非线性表征能力。</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68.xml"/><Relationship Id="rId3" Type="http://schemas.openxmlformats.org/officeDocument/2006/relationships/image" Target="../media/image1.png"/><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5.xml"/><Relationship Id="rId3" Type="http://schemas.openxmlformats.org/officeDocument/2006/relationships/image" Target="../media/image2.png"/><Relationship Id="rId2" Type="http://schemas.openxmlformats.org/officeDocument/2006/relationships/tags" Target="../tags/tag74.xml"/><Relationship Id="rId1" Type="http://schemas.openxmlformats.org/officeDocument/2006/relationships/tags" Target="../tags/tag73.xml"/></Relationships>
</file>

<file path=ppt/slides/_rels/slide5.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image" Target="../media/image5.wmf"/><Relationship Id="rId5" Type="http://schemas.openxmlformats.org/officeDocument/2006/relationships/oleObject" Target="../embeddings/oleObject1.bin"/><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tags" Target="../tags/tag77.xml"/><Relationship Id="rId11" Type="http://schemas.openxmlformats.org/officeDocument/2006/relationships/vmlDrawing" Target="../drawings/vmlDrawing1.vml"/><Relationship Id="rId10" Type="http://schemas.openxmlformats.org/officeDocument/2006/relationships/slideLayout" Target="../slideLayouts/slideLayout2.xml"/><Relationship Id="rId1" Type="http://schemas.openxmlformats.org/officeDocument/2006/relationships/tags" Target="../tags/tag76.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81.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tags" Target="../tags/tag80.xml"/><Relationship Id="rId1" Type="http://schemas.openxmlformats.org/officeDocument/2006/relationships/tags" Target="../tags/tag79.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tags" Target="../tags/tag84.xml"/><Relationship Id="rId3" Type="http://schemas.openxmlformats.org/officeDocument/2006/relationships/image" Target="../media/image10.png"/><Relationship Id="rId2" Type="http://schemas.openxmlformats.org/officeDocument/2006/relationships/tags" Target="../tags/tag83.xml"/><Relationship Id="rId1" Type="http://schemas.openxmlformats.org/officeDocument/2006/relationships/tags" Target="../tags/tag82.xml"/></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tags" Target="../tags/tag86.xml"/><Relationship Id="rId2" Type="http://schemas.openxmlformats.org/officeDocument/2006/relationships/image" Target="../media/image11.emf"/><Relationship Id="rId1" Type="http://schemas.openxmlformats.org/officeDocument/2006/relationships/tags" Target="../tags/tag85.xml"/></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2.xml"/><Relationship Id="rId5" Type="http://schemas.openxmlformats.org/officeDocument/2006/relationships/tags" Target="../tags/tag89.xml"/><Relationship Id="rId4" Type="http://schemas.openxmlformats.org/officeDocument/2006/relationships/image" Target="../media/image13.emf"/><Relationship Id="rId3" Type="http://schemas.openxmlformats.org/officeDocument/2006/relationships/image" Target="../media/image12.png"/><Relationship Id="rId2" Type="http://schemas.openxmlformats.org/officeDocument/2006/relationships/tags" Target="../tags/tag88.xml"/><Relationship Id="rId1" Type="http://schemas.openxmlformats.org/officeDocument/2006/relationships/tags" Target="../tags/tag8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80" y="642620"/>
            <a:ext cx="9799320" cy="1156970"/>
          </a:xfrm>
        </p:spPr>
        <p:txBody>
          <a:bodyPr/>
          <a:p>
            <a:r>
              <a:rPr lang="en-US" altLang="zh-CN">
                <a:latin typeface="楷体" panose="02010609060101010101" charset="-122"/>
                <a:ea typeface="楷体" panose="02010609060101010101" charset="-122"/>
              </a:rPr>
              <a:t>DIP</a:t>
            </a:r>
            <a:r>
              <a:rPr lang="zh-CN" altLang="en-US">
                <a:latin typeface="楷体" panose="02010609060101010101" charset="-122"/>
                <a:ea typeface="楷体" panose="02010609060101010101" charset="-122"/>
              </a:rPr>
              <a:t>课设</a:t>
            </a:r>
            <a:r>
              <a:rPr lang="en-US" altLang="zh-CN">
                <a:latin typeface="楷体" panose="02010609060101010101" charset="-122"/>
                <a:ea typeface="楷体" panose="02010609060101010101" charset="-122"/>
              </a:rPr>
              <a:t>--Ghostnet</a:t>
            </a:r>
            <a:endParaRPr lang="en-US" altLang="zh-CN">
              <a:latin typeface="楷体" panose="02010609060101010101" charset="-122"/>
              <a:ea typeface="楷体" panose="02010609060101010101" charset="-122"/>
            </a:endParaRPr>
          </a:p>
        </p:txBody>
      </p:sp>
      <p:sp>
        <p:nvSpPr>
          <p:cNvPr id="3" name="副标题 2"/>
          <p:cNvSpPr>
            <a:spLocks noGrp="1"/>
          </p:cNvSpPr>
          <p:nvPr>
            <p:ph type="subTitle" idx="1"/>
            <p:custDataLst>
              <p:tags r:id="rId2"/>
            </p:custDataLst>
          </p:nvPr>
        </p:nvSpPr>
        <p:spPr>
          <a:xfrm>
            <a:off x="0" y="3662680"/>
            <a:ext cx="11870690" cy="2448560"/>
          </a:xfrm>
        </p:spPr>
        <p:txBody>
          <a:bodyPr>
            <a:normAutofit fontScale="80000"/>
          </a:bodyPr>
          <a:p>
            <a:pPr algn="l"/>
            <a:r>
              <a:rPr lang="zh-CN" altLang="en-US"/>
              <a:t>论文</a:t>
            </a:r>
            <a:r>
              <a:rPr lang="en-US" altLang="zh-CN"/>
              <a:t>:</a:t>
            </a:r>
            <a:endParaRPr lang="en-US" altLang="zh-CN"/>
          </a:p>
          <a:p>
            <a:pPr algn="l"/>
            <a:r>
              <a:rPr lang="en-US" altLang="zh-CN"/>
              <a:t>* GhostNet: More Features from Cheap Operations</a:t>
            </a:r>
            <a:endParaRPr lang="en-US" altLang="zh-CN"/>
          </a:p>
          <a:p>
            <a:pPr algn="l"/>
            <a:r>
              <a:rPr lang="en-US" altLang="zh-CN"/>
              <a:t>GhostNetV2: Enhance Cheap Operation with Long-Range Attention</a:t>
            </a:r>
            <a:endParaRPr lang="en-US" altLang="zh-CN"/>
          </a:p>
          <a:p>
            <a:pPr algn="l"/>
            <a:r>
              <a:rPr lang="en-US" altLang="zh-CN"/>
              <a:t>MobileNets: Efficient Convolutional Neural Networks for Mobile Vision Applications</a:t>
            </a:r>
            <a:endParaRPr lang="en-US" altLang="zh-CN"/>
          </a:p>
          <a:p>
            <a:r>
              <a:rPr lang="zh-CN" altLang="en-US"/>
              <a:t>工程仓库</a:t>
            </a:r>
            <a:r>
              <a:rPr lang="en-US" altLang="zh-CN"/>
              <a:t>:https://github.com/ZYboshi/DIP_GhostNet</a:t>
            </a:r>
            <a:endParaRPr lang="en-US" altLang="zh-CN"/>
          </a:p>
          <a:p>
            <a:endParaRPr lang="en-US" altLang="zh-CN"/>
          </a:p>
          <a:p>
            <a:endParaRPr lang="en-US" altLang="zh-CN"/>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latin typeface="楷体" panose="02010609060101010101" charset="-122"/>
                <a:ea typeface="楷体" panose="02010609060101010101" charset="-122"/>
              </a:rPr>
              <a:t>冗余性</a:t>
            </a:r>
            <a:endParaRPr lang="zh-CN" altLang="en-US">
              <a:latin typeface="楷体" panose="02010609060101010101" charset="-122"/>
              <a:ea typeface="楷体" panose="02010609060101010101" charset="-122"/>
            </a:endParaRPr>
          </a:p>
        </p:txBody>
      </p:sp>
      <p:pic>
        <p:nvPicPr>
          <p:cNvPr id="4" name="内容占位符 3"/>
          <p:cNvPicPr>
            <a:picLocks noChangeAspect="1"/>
          </p:cNvPicPr>
          <p:nvPr>
            <p:ph idx="1"/>
            <p:custDataLst>
              <p:tags r:id="rId2"/>
            </p:custDataLst>
          </p:nvPr>
        </p:nvPicPr>
        <p:blipFill>
          <a:blip r:embed="rId3"/>
          <a:stretch>
            <a:fillRect/>
          </a:stretch>
        </p:blipFill>
        <p:spPr>
          <a:xfrm>
            <a:off x="461010" y="1671320"/>
            <a:ext cx="6391275" cy="4086225"/>
          </a:xfrm>
          <a:prstGeom prst="rect">
            <a:avLst/>
          </a:prstGeom>
        </p:spPr>
      </p:pic>
      <p:sp>
        <p:nvSpPr>
          <p:cNvPr id="5" name="文本框 4"/>
          <p:cNvSpPr txBox="1"/>
          <p:nvPr/>
        </p:nvSpPr>
        <p:spPr>
          <a:xfrm>
            <a:off x="7122795" y="1607185"/>
            <a:ext cx="4965700" cy="1753235"/>
          </a:xfrm>
          <a:prstGeom prst="rect">
            <a:avLst/>
          </a:prstGeom>
          <a:noFill/>
        </p:spPr>
        <p:txBody>
          <a:bodyPr wrap="square" rtlCol="0">
            <a:spAutoFit/>
          </a:bodyPr>
          <a:p>
            <a:pPr>
              <a:lnSpc>
                <a:spcPct val="150000"/>
              </a:lnSpc>
            </a:pPr>
            <a:r>
              <a:rPr lang="zh-CN" altLang="en-US"/>
              <a:t>冗余性</a:t>
            </a:r>
            <a:r>
              <a:rPr lang="en-US" altLang="zh-CN"/>
              <a:t>(redunancy)</a:t>
            </a:r>
            <a:r>
              <a:rPr lang="zh-CN" altLang="en-US"/>
              <a:t>：</a:t>
            </a:r>
            <a:endParaRPr lang="zh-CN" altLang="en-US"/>
          </a:p>
          <a:p>
            <a:pPr>
              <a:lnSpc>
                <a:spcPct val="150000"/>
              </a:lnSpc>
            </a:pPr>
            <a:r>
              <a:rPr lang="zh-CN" altLang="en-US"/>
              <a:t>多个特征图对之间存在高度相似性</a:t>
            </a:r>
            <a:r>
              <a:rPr lang="en-US" altLang="zh-CN"/>
              <a:t>;</a:t>
            </a:r>
            <a:endParaRPr lang="en-US" altLang="zh-CN"/>
          </a:p>
          <a:p>
            <a:pPr>
              <a:lnSpc>
                <a:spcPct val="150000"/>
              </a:lnSpc>
            </a:pPr>
            <a:r>
              <a:rPr lang="zh-CN" altLang="en-US"/>
              <a:t>其中一张特征图可以通过廉价操作近似变换得到另一张</a:t>
            </a:r>
            <a:endParaRPr lang="zh-CN" altLang="en-US"/>
          </a:p>
        </p:txBody>
      </p:sp>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latin typeface="楷体" panose="02010609060101010101" charset="-122"/>
                <a:ea typeface="楷体" panose="02010609060101010101" charset="-122"/>
              </a:rPr>
              <a:t>背景</a:t>
            </a:r>
            <a:r>
              <a:rPr lang="en-US" altLang="zh-CN">
                <a:latin typeface="楷体" panose="02010609060101010101" charset="-122"/>
                <a:ea typeface="楷体" panose="02010609060101010101" charset="-122"/>
              </a:rPr>
              <a:t>:</a:t>
            </a:r>
            <a:r>
              <a:rPr lang="zh-CN" altLang="en-US">
                <a:latin typeface="楷体" panose="02010609060101010101" charset="-122"/>
                <a:ea typeface="楷体" panose="02010609060101010101" charset="-122"/>
              </a:rPr>
              <a:t>已有方法的核心</a:t>
            </a:r>
            <a:r>
              <a:rPr lang="zh-CN" altLang="en-US">
                <a:latin typeface="楷体" panose="02010609060101010101" charset="-122"/>
                <a:ea typeface="楷体" panose="02010609060101010101" charset="-122"/>
              </a:rPr>
              <a:t>思想</a:t>
            </a:r>
            <a:endParaRPr lang="zh-CN" altLang="en-US">
              <a:latin typeface="楷体" panose="02010609060101010101" charset="-122"/>
              <a:ea typeface="楷体" panose="02010609060101010101" charset="-122"/>
            </a:endParaRPr>
          </a:p>
        </p:txBody>
      </p:sp>
      <p:sp>
        <p:nvSpPr>
          <p:cNvPr id="3" name="内容占位符 2"/>
          <p:cNvSpPr>
            <a:spLocks noGrp="1"/>
          </p:cNvSpPr>
          <p:nvPr>
            <p:ph idx="1"/>
            <p:custDataLst>
              <p:tags r:id="rId2"/>
            </p:custDataLst>
          </p:nvPr>
        </p:nvSpPr>
        <p:spPr>
          <a:xfrm>
            <a:off x="608330" y="1490345"/>
            <a:ext cx="5038090" cy="4759325"/>
          </a:xfrm>
        </p:spPr>
        <p:txBody>
          <a:bodyPr/>
          <a:p>
            <a:r>
              <a:rPr lang="zh-CN" altLang="en-US">
                <a:latin typeface="楷体" panose="02010609060101010101" charset="-122"/>
                <a:ea typeface="楷体" panose="02010609060101010101" charset="-122"/>
              </a:rPr>
              <a:t>传统方法：</a:t>
            </a:r>
            <a:endParaRPr lang="zh-CN" altLang="en-US">
              <a:latin typeface="楷体" panose="02010609060101010101" charset="-122"/>
              <a:ea typeface="楷体" panose="02010609060101010101" charset="-122"/>
            </a:endParaRPr>
          </a:p>
          <a:p>
            <a:pPr marL="0" indent="0">
              <a:buNone/>
            </a:pPr>
            <a:r>
              <a:rPr lang="zh-CN" altLang="en-US">
                <a:latin typeface="楷体" panose="02010609060101010101" charset="-122"/>
                <a:ea typeface="楷体" panose="02010609060101010101" charset="-122"/>
              </a:rPr>
              <a:t>核心</a:t>
            </a:r>
            <a:r>
              <a:rPr lang="zh-CN" altLang="en-US">
                <a:latin typeface="楷体" panose="02010609060101010101" charset="-122"/>
                <a:ea typeface="楷体" panose="02010609060101010101" charset="-122"/>
              </a:rPr>
              <a:t>思想：认为冗余是无效的，需要被剔除</a:t>
            </a:r>
            <a:endParaRPr lang="zh-CN" altLang="en-US">
              <a:latin typeface="楷体" panose="02010609060101010101" charset="-122"/>
              <a:ea typeface="楷体" panose="02010609060101010101" charset="-122"/>
            </a:endParaRPr>
          </a:p>
          <a:p>
            <a:pPr marL="0" indent="0">
              <a:buNone/>
            </a:pPr>
            <a:r>
              <a:rPr lang="zh-CN" altLang="en-US">
                <a:latin typeface="楷体" panose="02010609060101010101" charset="-122"/>
                <a:ea typeface="楷体" panose="02010609060101010101" charset="-122"/>
              </a:rPr>
              <a:t>代表技术：</a:t>
            </a:r>
            <a:endParaRPr lang="zh-CN" altLang="en-US">
              <a:latin typeface="楷体" panose="02010609060101010101" charset="-122"/>
              <a:ea typeface="楷体" panose="02010609060101010101" charset="-122"/>
            </a:endParaRPr>
          </a:p>
          <a:p>
            <a:pPr marL="0" indent="457200">
              <a:buNone/>
            </a:pPr>
            <a:r>
              <a:rPr lang="en-US" altLang="zh-CN">
                <a:latin typeface="楷体" panose="02010609060101010101" charset="-122"/>
                <a:ea typeface="楷体" panose="02010609060101010101" charset="-122"/>
              </a:rPr>
              <a:t>*</a:t>
            </a:r>
            <a:r>
              <a:rPr lang="zh-CN" altLang="en-US">
                <a:latin typeface="楷体" panose="02010609060101010101" charset="-122"/>
                <a:ea typeface="楷体" panose="02010609060101010101" charset="-122"/>
              </a:rPr>
              <a:t>剪枝：移除不重要的网络连接或神经元。</a:t>
            </a:r>
            <a:endParaRPr lang="zh-CN" altLang="en-US">
              <a:latin typeface="楷体" panose="02010609060101010101" charset="-122"/>
              <a:ea typeface="楷体" panose="02010609060101010101" charset="-122"/>
            </a:endParaRPr>
          </a:p>
          <a:p>
            <a:pPr marL="0" indent="457200">
              <a:buNone/>
            </a:pPr>
            <a:r>
              <a:rPr lang="en-US" altLang="zh-CN">
                <a:latin typeface="楷体" panose="02010609060101010101" charset="-122"/>
                <a:ea typeface="楷体" panose="02010609060101010101" charset="-122"/>
              </a:rPr>
              <a:t>*</a:t>
            </a:r>
            <a:r>
              <a:rPr lang="zh-CN" altLang="en-US">
                <a:latin typeface="楷体" panose="02010609060101010101" charset="-122"/>
                <a:ea typeface="楷体" panose="02010609060101010101" charset="-122"/>
              </a:rPr>
              <a:t>量化：降低权重和激活值的数值精度。</a:t>
            </a:r>
            <a:endParaRPr lang="zh-CN" altLang="en-US">
              <a:latin typeface="楷体" panose="02010609060101010101" charset="-122"/>
              <a:ea typeface="楷体" panose="02010609060101010101" charset="-122"/>
            </a:endParaRPr>
          </a:p>
          <a:p>
            <a:pPr marL="0" indent="457200">
              <a:buNone/>
            </a:pPr>
            <a:r>
              <a:rPr lang="en-US" altLang="zh-CN">
                <a:latin typeface="楷体" panose="02010609060101010101" charset="-122"/>
                <a:ea typeface="楷体" panose="02010609060101010101" charset="-122"/>
              </a:rPr>
              <a:t>*</a:t>
            </a:r>
            <a:r>
              <a:rPr lang="zh-CN" altLang="en-US">
                <a:latin typeface="楷体" panose="02010609060101010101" charset="-122"/>
                <a:ea typeface="楷体" panose="02010609060101010101" charset="-122"/>
              </a:rPr>
              <a:t>知识蒸馏：让小型网络模仿大型复杂网络的行为。</a:t>
            </a:r>
            <a:endParaRPr lang="zh-CN" altLang="en-US">
              <a:latin typeface="楷体" panose="02010609060101010101" charset="-122"/>
              <a:ea typeface="楷体" panose="02010609060101010101" charset="-122"/>
            </a:endParaRPr>
          </a:p>
          <a:p>
            <a:pPr marL="0" indent="457200">
              <a:buNone/>
            </a:pPr>
            <a:r>
              <a:rPr lang="zh-CN" altLang="en-US">
                <a:latin typeface="楷体" panose="02010609060101010101" charset="-122"/>
                <a:ea typeface="楷体" panose="02010609060101010101" charset="-122"/>
              </a:rPr>
              <a:t>能有效压缩预训练模型，</a:t>
            </a:r>
            <a:r>
              <a:rPr lang="zh-CN" altLang="en-US">
                <a:latin typeface="楷体" panose="02010609060101010101" charset="-122"/>
                <a:ea typeface="楷体" panose="02010609060101010101" charset="-122"/>
              </a:rPr>
              <a:t>但是性能上限受制于原始模型。</a:t>
            </a:r>
            <a:endParaRPr lang="zh-CN" altLang="en-US">
              <a:latin typeface="楷体" panose="02010609060101010101" charset="-122"/>
              <a:ea typeface="楷体" panose="02010609060101010101" charset="-122"/>
            </a:endParaRPr>
          </a:p>
        </p:txBody>
      </p:sp>
      <p:sp>
        <p:nvSpPr>
          <p:cNvPr id="5" name="内容占位符 2"/>
          <p:cNvSpPr>
            <a:spLocks noGrp="1"/>
          </p:cNvSpPr>
          <p:nvPr>
            <p:custDataLst>
              <p:tags r:id="rId3"/>
            </p:custDataLst>
          </p:nvPr>
        </p:nvSpPr>
        <p:spPr>
          <a:xfrm>
            <a:off x="6308090" y="1490345"/>
            <a:ext cx="5038090" cy="4759325"/>
          </a:xfrm>
          <a:prstGeom prst="rect">
            <a:avLst/>
          </a:prstGeom>
        </p:spPr>
        <p:txBody>
          <a:bodyPr vert="horz" lIns="90000" tIns="46800" rIns="90000" bIns="46800" rtlCol="0">
            <a:normAutofit lnSpcReduction="20000"/>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latin typeface="楷体" panose="02010609060101010101" charset="-122"/>
                <a:ea typeface="楷体" panose="02010609060101010101" charset="-122"/>
              </a:rPr>
              <a:t>高效架构：</a:t>
            </a:r>
            <a:endParaRPr lang="zh-CN" altLang="en-US">
              <a:latin typeface="楷体" panose="02010609060101010101" charset="-122"/>
              <a:ea typeface="楷体" panose="02010609060101010101" charset="-122"/>
            </a:endParaRPr>
          </a:p>
          <a:p>
            <a:pPr marL="0" indent="0">
              <a:buNone/>
            </a:pPr>
            <a:r>
              <a:rPr lang="zh-CN" altLang="en-US">
                <a:latin typeface="楷体" panose="02010609060101010101" charset="-122"/>
                <a:ea typeface="楷体" panose="02010609060101010101" charset="-122"/>
              </a:rPr>
              <a:t>核心</a:t>
            </a:r>
            <a:r>
              <a:rPr lang="zh-CN" altLang="en-US">
                <a:latin typeface="楷体" panose="02010609060101010101" charset="-122"/>
                <a:ea typeface="楷体" panose="02010609060101010101" charset="-122"/>
              </a:rPr>
              <a:t>思想：承认冗余的积极作用，但寻求更低成本的生成方式</a:t>
            </a:r>
            <a:endParaRPr lang="zh-CN" altLang="en-US">
              <a:latin typeface="楷体" panose="02010609060101010101" charset="-122"/>
              <a:ea typeface="楷体" panose="02010609060101010101" charset="-122"/>
            </a:endParaRPr>
          </a:p>
          <a:p>
            <a:pPr marL="0" indent="0">
              <a:buNone/>
            </a:pPr>
            <a:r>
              <a:rPr lang="zh-CN" altLang="en-US">
                <a:latin typeface="楷体" panose="02010609060101010101" charset="-122"/>
                <a:ea typeface="楷体" panose="02010609060101010101" charset="-122"/>
              </a:rPr>
              <a:t>代表技术：</a:t>
            </a:r>
            <a:endParaRPr lang="zh-CN" altLang="en-US">
              <a:latin typeface="楷体" panose="02010609060101010101" charset="-122"/>
              <a:ea typeface="楷体" panose="02010609060101010101" charset="-122"/>
            </a:endParaRPr>
          </a:p>
          <a:p>
            <a:pPr marL="0" indent="457200">
              <a:buNone/>
            </a:pPr>
            <a:r>
              <a:rPr lang="en-US" altLang="zh-CN">
                <a:latin typeface="楷体" panose="02010609060101010101" charset="-122"/>
                <a:ea typeface="楷体" panose="02010609060101010101" charset="-122"/>
              </a:rPr>
              <a:t>*MobileNet</a:t>
            </a:r>
            <a:r>
              <a:rPr lang="zh-CN" altLang="en-US">
                <a:latin typeface="楷体" panose="02010609060101010101" charset="-122"/>
                <a:ea typeface="楷体" panose="02010609060101010101" charset="-122"/>
              </a:rPr>
              <a:t>：采用深度可分离卷积，将标准卷积分解，大幅减少计算量。</a:t>
            </a:r>
            <a:endParaRPr lang="zh-CN" altLang="en-US">
              <a:latin typeface="楷体" panose="02010609060101010101" charset="-122"/>
              <a:ea typeface="楷体" panose="02010609060101010101" charset="-122"/>
            </a:endParaRPr>
          </a:p>
          <a:p>
            <a:pPr marL="0" indent="457200">
              <a:buNone/>
            </a:pPr>
            <a:r>
              <a:rPr lang="en-US" altLang="zh-CN">
                <a:latin typeface="楷体" panose="02010609060101010101" charset="-122"/>
                <a:ea typeface="楷体" panose="02010609060101010101" charset="-122"/>
              </a:rPr>
              <a:t>*ShuffleNet</a:t>
            </a:r>
            <a:r>
              <a:rPr lang="zh-CN" altLang="en-US">
                <a:latin typeface="楷体" panose="02010609060101010101" charset="-122"/>
                <a:ea typeface="楷体" panose="02010609060101010101" charset="-122"/>
              </a:rPr>
              <a:t>：引入通道混洗操作，促进通道间信息流通，提升轻量模型性能。</a:t>
            </a:r>
            <a:endParaRPr lang="zh-CN" altLang="en-US">
              <a:latin typeface="楷体" panose="02010609060101010101" charset="-122"/>
              <a:ea typeface="楷体" panose="02010609060101010101" charset="-122"/>
            </a:endParaRPr>
          </a:p>
          <a:p>
            <a:pPr marL="0" indent="457200">
              <a:buNone/>
            </a:pPr>
            <a:endParaRPr lang="zh-CN" altLang="en-US">
              <a:latin typeface="楷体" panose="02010609060101010101" charset="-122"/>
              <a:ea typeface="楷体" panose="02010609060101010101" charset="-122"/>
            </a:endParaRPr>
          </a:p>
        </p:txBody>
      </p:sp>
    </p:spTree>
    <p:custDataLst>
      <p:tags r:id="rId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latin typeface="楷体" panose="02010609060101010101" charset="-122"/>
                <a:ea typeface="楷体" panose="02010609060101010101" charset="-122"/>
              </a:rPr>
              <a:t>Ghostnet</a:t>
            </a:r>
            <a:r>
              <a:rPr lang="zh-CN" altLang="en-US">
                <a:latin typeface="楷体" panose="02010609060101010101" charset="-122"/>
                <a:ea typeface="楷体" panose="02010609060101010101" charset="-122"/>
              </a:rPr>
              <a:t>方法</a:t>
            </a:r>
            <a:r>
              <a:rPr lang="en-US" altLang="zh-CN">
                <a:latin typeface="楷体" panose="02010609060101010101" charset="-122"/>
                <a:ea typeface="楷体" panose="02010609060101010101" charset="-122"/>
              </a:rPr>
              <a:t>:</a:t>
            </a:r>
            <a:endParaRPr lang="en-US" altLang="zh-CN">
              <a:latin typeface="楷体" panose="02010609060101010101" charset="-122"/>
              <a:ea typeface="楷体" panose="02010609060101010101" charset="-122"/>
            </a:endParaRPr>
          </a:p>
        </p:txBody>
      </p:sp>
      <p:sp>
        <p:nvSpPr>
          <p:cNvPr id="3" name="内容占位符 2"/>
          <p:cNvSpPr>
            <a:spLocks noGrp="1"/>
          </p:cNvSpPr>
          <p:nvPr>
            <p:ph idx="1"/>
            <p:custDataLst>
              <p:tags r:id="rId2"/>
            </p:custDataLst>
          </p:nvPr>
        </p:nvSpPr>
        <p:spPr>
          <a:xfrm>
            <a:off x="608330" y="1490345"/>
            <a:ext cx="3816350" cy="4759325"/>
          </a:xfrm>
        </p:spPr>
        <p:txBody>
          <a:bodyPr/>
          <a:p>
            <a:r>
              <a:rPr lang="zh-CN" altLang="en-US">
                <a:latin typeface="楷体" panose="02010609060101010101" charset="-122"/>
                <a:ea typeface="楷体" panose="02010609060101010101" charset="-122"/>
              </a:rPr>
              <a:t>核心思想：通过廉价运算</a:t>
            </a:r>
            <a:r>
              <a:rPr lang="en-US" altLang="zh-CN">
                <a:latin typeface="楷体" panose="02010609060101010101" charset="-122"/>
                <a:ea typeface="楷体" panose="02010609060101010101" charset="-122"/>
              </a:rPr>
              <a:t>“</a:t>
            </a:r>
            <a:r>
              <a:rPr lang="zh-CN" altLang="en-US">
                <a:latin typeface="楷体" panose="02010609060101010101" charset="-122"/>
                <a:ea typeface="楷体" panose="02010609060101010101" charset="-122"/>
              </a:rPr>
              <a:t>幻化</a:t>
            </a:r>
            <a:r>
              <a:rPr lang="en-US" altLang="zh-CN">
                <a:latin typeface="楷体" panose="02010609060101010101" charset="-122"/>
                <a:ea typeface="楷体" panose="02010609060101010101" charset="-122"/>
              </a:rPr>
              <a:t>”</a:t>
            </a:r>
            <a:r>
              <a:rPr lang="zh-CN" altLang="en-US">
                <a:latin typeface="楷体" panose="02010609060101010101" charset="-122"/>
                <a:ea typeface="楷体" panose="02010609060101010101" charset="-122"/>
              </a:rPr>
              <a:t>出相似特征</a:t>
            </a:r>
            <a:endParaRPr lang="zh-CN" altLang="en-US">
              <a:latin typeface="楷体" panose="02010609060101010101" charset="-122"/>
              <a:ea typeface="楷体" panose="02010609060101010101" charset="-122"/>
            </a:endParaRPr>
          </a:p>
          <a:p>
            <a:r>
              <a:rPr lang="zh-CN" altLang="en-US">
                <a:latin typeface="楷体" panose="02010609060101010101" charset="-122"/>
                <a:ea typeface="楷体" panose="02010609060101010101" charset="-122"/>
              </a:rPr>
              <a:t>工作机制：</a:t>
            </a:r>
            <a:endParaRPr lang="zh-CN" altLang="en-US">
              <a:latin typeface="楷体" panose="02010609060101010101" charset="-122"/>
              <a:ea typeface="楷体" panose="02010609060101010101" charset="-122"/>
            </a:endParaRPr>
          </a:p>
          <a:p>
            <a:pPr lvl="1"/>
            <a:r>
              <a:rPr lang="zh-CN" altLang="en-US">
                <a:latin typeface="楷体" panose="02010609060101010101" charset="-122"/>
                <a:ea typeface="楷体" panose="02010609060101010101" charset="-122"/>
              </a:rPr>
              <a:t>少量卷积：生成少量</a:t>
            </a:r>
            <a:r>
              <a:rPr lang="en-US" altLang="zh-CN">
                <a:latin typeface="楷体" panose="02010609060101010101" charset="-122"/>
                <a:ea typeface="楷体" panose="02010609060101010101" charset="-122"/>
              </a:rPr>
              <a:t>“</a:t>
            </a:r>
            <a:r>
              <a:rPr lang="zh-CN" altLang="en-US">
                <a:latin typeface="楷体" panose="02010609060101010101" charset="-122"/>
                <a:ea typeface="楷体" panose="02010609060101010101" charset="-122"/>
              </a:rPr>
              <a:t>内在</a:t>
            </a:r>
            <a:r>
              <a:rPr lang="en-US" altLang="zh-CN">
                <a:latin typeface="楷体" panose="02010609060101010101" charset="-122"/>
                <a:ea typeface="楷体" panose="02010609060101010101" charset="-122"/>
              </a:rPr>
              <a:t>”</a:t>
            </a:r>
            <a:r>
              <a:rPr lang="zh-CN" altLang="en-US">
                <a:latin typeface="楷体" panose="02010609060101010101" charset="-122"/>
                <a:ea typeface="楷体" panose="02010609060101010101" charset="-122"/>
              </a:rPr>
              <a:t>特征图。</a:t>
            </a:r>
            <a:endParaRPr lang="zh-CN" altLang="en-US">
              <a:latin typeface="楷体" panose="02010609060101010101" charset="-122"/>
              <a:ea typeface="楷体" panose="02010609060101010101" charset="-122"/>
            </a:endParaRPr>
          </a:p>
          <a:p>
            <a:pPr lvl="1"/>
            <a:r>
              <a:rPr lang="zh-CN" altLang="en-US">
                <a:latin typeface="楷体" panose="02010609060101010101" charset="-122"/>
                <a:ea typeface="楷体" panose="02010609060101010101" charset="-122"/>
              </a:rPr>
              <a:t>线性变换</a:t>
            </a:r>
            <a:r>
              <a:rPr lang="en-US" altLang="zh-CN">
                <a:latin typeface="楷体" panose="02010609060101010101" charset="-122"/>
                <a:ea typeface="楷体" panose="02010609060101010101" charset="-122"/>
              </a:rPr>
              <a:t>/</a:t>
            </a:r>
            <a:r>
              <a:rPr lang="zh-CN" altLang="en-US">
                <a:latin typeface="楷体" panose="02010609060101010101" charset="-122"/>
                <a:ea typeface="楷体" panose="02010609060101010101" charset="-122"/>
              </a:rPr>
              <a:t>幻化</a:t>
            </a:r>
            <a:r>
              <a:rPr lang="zh-CN" altLang="en-US">
                <a:latin typeface="楷体" panose="02010609060101010101" charset="-122"/>
                <a:ea typeface="楷体" panose="02010609060101010101" charset="-122"/>
              </a:rPr>
              <a:t>操作：对内在特征进行廉价操作（如平移、缩放），批量</a:t>
            </a:r>
            <a:r>
              <a:rPr lang="en-US" altLang="zh-CN">
                <a:latin typeface="楷体" panose="02010609060101010101" charset="-122"/>
                <a:ea typeface="楷体" panose="02010609060101010101" charset="-122"/>
              </a:rPr>
              <a:t>“</a:t>
            </a:r>
            <a:r>
              <a:rPr lang="zh-CN" altLang="en-US">
                <a:latin typeface="楷体" panose="02010609060101010101" charset="-122"/>
                <a:ea typeface="楷体" panose="02010609060101010101" charset="-122"/>
              </a:rPr>
              <a:t>克隆</a:t>
            </a:r>
            <a:r>
              <a:rPr lang="en-US" altLang="zh-CN">
                <a:latin typeface="楷体" panose="02010609060101010101" charset="-122"/>
                <a:ea typeface="楷体" panose="02010609060101010101" charset="-122"/>
              </a:rPr>
              <a:t>”</a:t>
            </a:r>
            <a:r>
              <a:rPr lang="zh-CN" altLang="en-US">
                <a:latin typeface="楷体" panose="02010609060101010101" charset="-122"/>
                <a:ea typeface="楷体" panose="02010609060101010101" charset="-122"/>
              </a:rPr>
              <a:t>出冗余特征图。</a:t>
            </a:r>
            <a:endParaRPr lang="zh-CN" altLang="en-US">
              <a:latin typeface="楷体" panose="02010609060101010101" charset="-122"/>
              <a:ea typeface="楷体" panose="02010609060101010101" charset="-122"/>
            </a:endParaRPr>
          </a:p>
        </p:txBody>
      </p:sp>
      <p:pic>
        <p:nvPicPr>
          <p:cNvPr id="4" name="图片 3"/>
          <p:cNvPicPr>
            <a:picLocks noChangeAspect="1"/>
          </p:cNvPicPr>
          <p:nvPr/>
        </p:nvPicPr>
        <p:blipFill>
          <a:blip r:embed="rId3"/>
          <a:stretch>
            <a:fillRect/>
          </a:stretch>
        </p:blipFill>
        <p:spPr>
          <a:xfrm>
            <a:off x="4684395" y="428625"/>
            <a:ext cx="7400925" cy="6000750"/>
          </a:xfrm>
          <a:prstGeom prst="rect">
            <a:avLst/>
          </a:prstGeom>
        </p:spPr>
      </p:pic>
    </p:spTree>
    <p:custDataLst>
      <p:tags r:id="rId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custDataLst>
              <p:tags r:id="rId1"/>
            </p:custDataLst>
          </p:nvPr>
        </p:nvSpPr>
        <p:spPr>
          <a:xfrm>
            <a:off x="608330" y="1049020"/>
            <a:ext cx="4846955" cy="4759325"/>
          </a:xfrm>
        </p:spPr>
        <p:txBody>
          <a:bodyPr/>
          <a:p>
            <a:r>
              <a:rPr lang="zh-CN" altLang="en-US">
                <a:latin typeface="楷体" panose="02010609060101010101" charset="-122"/>
                <a:ea typeface="楷体" panose="02010609060101010101" charset="-122"/>
                <a:cs typeface="楷体" panose="02010609060101010101" charset="-122"/>
              </a:rPr>
              <a:t>传统卷积：</a:t>
            </a:r>
            <a:r>
              <a:rPr lang="en-US" altLang="zh-CN">
                <a:latin typeface="楷体" panose="02010609060101010101" charset="-122"/>
                <a:ea typeface="楷体" panose="02010609060101010101" charset="-122"/>
                <a:cs typeface="楷体" panose="02010609060101010101" charset="-122"/>
              </a:rPr>
              <a:t>Y=X*f+b</a:t>
            </a:r>
            <a:endParaRPr lang="en-US" altLang="zh-CN">
              <a:latin typeface="楷体" panose="02010609060101010101" charset="-122"/>
              <a:ea typeface="楷体" panose="02010609060101010101" charset="-122"/>
              <a:cs typeface="楷体" panose="02010609060101010101" charset="-122"/>
            </a:endParaRPr>
          </a:p>
          <a:p>
            <a:pPr marL="0" indent="0">
              <a:buNone/>
            </a:pPr>
            <a:r>
              <a:rPr lang="zh-CN" altLang="en-US">
                <a:latin typeface="楷体" panose="02010609060101010101" charset="-122"/>
                <a:ea typeface="楷体" panose="02010609060101010101" charset="-122"/>
                <a:cs typeface="楷体" panose="02010609060101010101" charset="-122"/>
              </a:rPr>
              <a:t>输入特征图</a:t>
            </a:r>
            <a:r>
              <a:rPr lang="en-US" altLang="zh-CN">
                <a:latin typeface="楷体" panose="02010609060101010101" charset="-122"/>
                <a:ea typeface="楷体" panose="02010609060101010101" charset="-122"/>
                <a:cs typeface="楷体" panose="02010609060101010101" charset="-122"/>
              </a:rPr>
              <a:t> X: </a:t>
            </a:r>
            <a:r>
              <a:rPr lang="zh-CN" altLang="en-US">
                <a:latin typeface="楷体" panose="02010609060101010101" charset="-122"/>
                <a:ea typeface="楷体" panose="02010609060101010101" charset="-122"/>
                <a:cs typeface="楷体" panose="02010609060101010101" charset="-122"/>
              </a:rPr>
              <a:t>尺寸为</a:t>
            </a:r>
            <a:r>
              <a:rPr lang="en-US" altLang="zh-CN">
                <a:latin typeface="楷体" panose="02010609060101010101" charset="-122"/>
                <a:ea typeface="楷体" panose="02010609060101010101" charset="-122"/>
                <a:cs typeface="楷体" panose="02010609060101010101" charset="-122"/>
              </a:rPr>
              <a:t> [h, w, c]</a:t>
            </a:r>
            <a:endParaRPr lang="en-US" altLang="zh-CN">
              <a:latin typeface="楷体" panose="02010609060101010101" charset="-122"/>
              <a:ea typeface="楷体" panose="02010609060101010101" charset="-122"/>
              <a:cs typeface="楷体" panose="02010609060101010101" charset="-122"/>
            </a:endParaRPr>
          </a:p>
          <a:p>
            <a:pPr marL="0" indent="0">
              <a:buNone/>
            </a:pPr>
            <a:r>
              <a:rPr lang="zh-CN" altLang="en-US">
                <a:latin typeface="楷体" panose="02010609060101010101" charset="-122"/>
                <a:ea typeface="楷体" panose="02010609060101010101" charset="-122"/>
                <a:cs typeface="楷体" panose="02010609060101010101" charset="-122"/>
              </a:rPr>
              <a:t>卷积核</a:t>
            </a:r>
            <a:r>
              <a:rPr lang="en-US" altLang="zh-CN">
                <a:latin typeface="楷体" panose="02010609060101010101" charset="-122"/>
                <a:ea typeface="楷体" panose="02010609060101010101" charset="-122"/>
                <a:cs typeface="楷体" panose="02010609060101010101" charset="-122"/>
              </a:rPr>
              <a:t> F: </a:t>
            </a:r>
            <a:r>
              <a:rPr lang="zh-CN" altLang="en-US">
                <a:latin typeface="楷体" panose="02010609060101010101" charset="-122"/>
                <a:ea typeface="楷体" panose="02010609060101010101" charset="-122"/>
                <a:cs typeface="楷体" panose="02010609060101010101" charset="-122"/>
              </a:rPr>
              <a:t>尺寸为</a:t>
            </a:r>
            <a:r>
              <a:rPr lang="en-US" altLang="zh-CN">
                <a:latin typeface="楷体" panose="02010609060101010101" charset="-122"/>
                <a:ea typeface="楷体" panose="02010609060101010101" charset="-122"/>
                <a:cs typeface="楷体" panose="02010609060101010101" charset="-122"/>
              </a:rPr>
              <a:t> [k, k, c, n]</a:t>
            </a:r>
            <a:endParaRPr lang="en-US" altLang="zh-CN">
              <a:latin typeface="楷体" panose="02010609060101010101" charset="-122"/>
              <a:ea typeface="楷体" panose="02010609060101010101" charset="-122"/>
              <a:cs typeface="楷体" panose="02010609060101010101" charset="-122"/>
            </a:endParaRPr>
          </a:p>
          <a:p>
            <a:pPr marL="0" indent="0">
              <a:buNone/>
            </a:pPr>
            <a:r>
              <a:rPr lang="zh-CN" altLang="en-US">
                <a:latin typeface="楷体" panose="02010609060101010101" charset="-122"/>
                <a:ea typeface="楷体" panose="02010609060101010101" charset="-122"/>
                <a:cs typeface="楷体" panose="02010609060101010101" charset="-122"/>
              </a:rPr>
              <a:t>输出特征图</a:t>
            </a:r>
            <a:r>
              <a:rPr lang="en-US" altLang="zh-CN">
                <a:latin typeface="楷体" panose="02010609060101010101" charset="-122"/>
                <a:ea typeface="楷体" panose="02010609060101010101" charset="-122"/>
                <a:cs typeface="楷体" panose="02010609060101010101" charset="-122"/>
              </a:rPr>
              <a:t> Y: </a:t>
            </a:r>
            <a:r>
              <a:rPr lang="zh-CN" altLang="en-US">
                <a:latin typeface="楷体" panose="02010609060101010101" charset="-122"/>
                <a:ea typeface="楷体" panose="02010609060101010101" charset="-122"/>
                <a:cs typeface="楷体" panose="02010609060101010101" charset="-122"/>
              </a:rPr>
              <a:t>尺寸为</a:t>
            </a:r>
            <a:r>
              <a:rPr lang="en-US" altLang="zh-CN">
                <a:latin typeface="楷体" panose="02010609060101010101" charset="-122"/>
                <a:ea typeface="楷体" panose="02010609060101010101" charset="-122"/>
                <a:cs typeface="楷体" panose="02010609060101010101" charset="-122"/>
              </a:rPr>
              <a:t> [h', w', n]</a:t>
            </a:r>
            <a:endParaRPr lang="en-US" altLang="zh-CN">
              <a:latin typeface="楷体" panose="02010609060101010101" charset="-122"/>
              <a:ea typeface="楷体" panose="02010609060101010101" charset="-122"/>
              <a:cs typeface="楷体" panose="02010609060101010101" charset="-122"/>
            </a:endParaRPr>
          </a:p>
          <a:p>
            <a:pPr marL="0" indent="0">
              <a:buNone/>
            </a:pPr>
            <a:r>
              <a:rPr lang="zh-CN" altLang="en-US">
                <a:latin typeface="楷体" panose="02010609060101010101" charset="-122"/>
                <a:ea typeface="楷体" panose="02010609060101010101" charset="-122"/>
                <a:cs typeface="楷体" panose="02010609060101010101" charset="-122"/>
              </a:rPr>
              <a:t>对于单个像素的乘加操作数</a:t>
            </a:r>
            <a:r>
              <a:rPr lang="en-US" altLang="zh-CN">
                <a:latin typeface="楷体" panose="02010609060101010101" charset="-122"/>
                <a:ea typeface="楷体" panose="02010609060101010101" charset="-122"/>
                <a:cs typeface="楷体" panose="02010609060101010101" charset="-122"/>
              </a:rPr>
              <a:t>:</a:t>
            </a:r>
            <a:endParaRPr lang="en-US" altLang="zh-CN">
              <a:latin typeface="楷体" panose="02010609060101010101" charset="-122"/>
              <a:ea typeface="楷体" panose="02010609060101010101" charset="-122"/>
              <a:cs typeface="楷体" panose="02010609060101010101" charset="-122"/>
            </a:endParaRPr>
          </a:p>
          <a:p>
            <a:pPr marL="0" indent="0">
              <a:buNone/>
            </a:pPr>
            <a:r>
              <a:rPr lang="en-US" altLang="zh-CN">
                <a:latin typeface="楷体" panose="02010609060101010101" charset="-122"/>
                <a:ea typeface="楷体" panose="02010609060101010101" charset="-122"/>
                <a:cs typeface="楷体" panose="02010609060101010101" charset="-122"/>
              </a:rPr>
              <a:t>c*k*k</a:t>
            </a:r>
            <a:endParaRPr lang="en-US" altLang="zh-CN">
              <a:latin typeface="楷体" panose="02010609060101010101" charset="-122"/>
              <a:ea typeface="楷体" panose="02010609060101010101" charset="-122"/>
              <a:cs typeface="楷体" panose="02010609060101010101" charset="-122"/>
            </a:endParaRPr>
          </a:p>
          <a:p>
            <a:pPr marL="0" indent="0">
              <a:buNone/>
            </a:pPr>
            <a:r>
              <a:rPr lang="zh-CN" altLang="en-US">
                <a:latin typeface="楷体" panose="02010609060101010101" charset="-122"/>
                <a:ea typeface="楷体" panose="02010609060101010101" charset="-122"/>
                <a:cs typeface="楷体" panose="02010609060101010101" charset="-122"/>
              </a:rPr>
              <a:t>总像素数</a:t>
            </a:r>
            <a:r>
              <a:rPr lang="en-US" altLang="zh-CN">
                <a:latin typeface="楷体" panose="02010609060101010101" charset="-122"/>
                <a:ea typeface="楷体" panose="02010609060101010101" charset="-122"/>
                <a:cs typeface="楷体" panose="02010609060101010101" charset="-122"/>
              </a:rPr>
              <a:t>: h’ * w’ *n</a:t>
            </a:r>
            <a:endParaRPr lang="en-US" altLang="zh-CN">
              <a:latin typeface="楷体" panose="02010609060101010101" charset="-122"/>
              <a:ea typeface="楷体" panose="02010609060101010101" charset="-122"/>
              <a:cs typeface="楷体" panose="02010609060101010101" charset="-122"/>
            </a:endParaRPr>
          </a:p>
          <a:p>
            <a:pPr marL="0" indent="0">
              <a:buNone/>
            </a:pPr>
            <a:endParaRPr lang="en-US" altLang="zh-CN">
              <a:latin typeface="楷体" panose="02010609060101010101" charset="-122"/>
              <a:ea typeface="楷体" panose="02010609060101010101" charset="-122"/>
              <a:cs typeface="楷体" panose="02010609060101010101" charset="-122"/>
            </a:endParaRPr>
          </a:p>
          <a:p>
            <a:pPr marL="0" indent="0">
              <a:buNone/>
            </a:pPr>
            <a:endParaRPr lang="en-US" altLang="zh-CN">
              <a:latin typeface="楷体" panose="02010609060101010101" charset="-122"/>
              <a:ea typeface="楷体" panose="02010609060101010101" charset="-122"/>
              <a:cs typeface="楷体" panose="02010609060101010101" charset="-122"/>
            </a:endParaRPr>
          </a:p>
        </p:txBody>
      </p:sp>
      <p:sp>
        <p:nvSpPr>
          <p:cNvPr id="4" name="标题 1"/>
          <p:cNvSpPr>
            <a:spLocks noGrp="1"/>
          </p:cNvSpPr>
          <p:nvPr>
            <p:custDataLst>
              <p:tags r:id="rId2"/>
            </p:custDataLst>
          </p:nvPr>
        </p:nvSpPr>
        <p:spPr>
          <a:xfrm>
            <a:off x="735400" y="208985"/>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r>
              <a:rPr lang="en-US" altLang="zh-CN">
                <a:latin typeface="楷体" panose="02010609060101010101" charset="-122"/>
                <a:ea typeface="楷体" panose="02010609060101010101" charset="-122"/>
              </a:rPr>
              <a:t>Ghostnet</a:t>
            </a:r>
            <a:r>
              <a:rPr lang="zh-CN" altLang="en-US">
                <a:latin typeface="楷体" panose="02010609060101010101" charset="-122"/>
                <a:ea typeface="楷体" panose="02010609060101010101" charset="-122"/>
              </a:rPr>
              <a:t>方法</a:t>
            </a:r>
            <a:r>
              <a:rPr lang="en-US" altLang="zh-CN">
                <a:latin typeface="楷体" panose="02010609060101010101" charset="-122"/>
                <a:ea typeface="楷体" panose="02010609060101010101" charset="-122"/>
              </a:rPr>
              <a:t>:</a:t>
            </a:r>
            <a:endParaRPr lang="en-US" altLang="zh-CN">
              <a:latin typeface="楷体" panose="02010609060101010101" charset="-122"/>
              <a:ea typeface="楷体" panose="02010609060101010101" charset="-122"/>
            </a:endParaRPr>
          </a:p>
        </p:txBody>
      </p:sp>
      <p:sp>
        <p:nvSpPr>
          <p:cNvPr id="8" name="文本框 7"/>
          <p:cNvSpPr txBox="1"/>
          <p:nvPr/>
        </p:nvSpPr>
        <p:spPr>
          <a:xfrm>
            <a:off x="6223635" y="1049020"/>
            <a:ext cx="5643245" cy="3415030"/>
          </a:xfrm>
          <a:prstGeom prst="rect">
            <a:avLst/>
          </a:prstGeom>
          <a:noFill/>
        </p:spPr>
        <p:txBody>
          <a:bodyPr wrap="square" rtlCol="0">
            <a:spAutoFit/>
          </a:bodyPr>
          <a:p>
            <a:pPr marL="285750" indent="-285750">
              <a:lnSpc>
                <a:spcPct val="150000"/>
              </a:lnSpc>
              <a:buSzPct val="70000"/>
              <a:buFont typeface="Wingdings" panose="05000000000000000000" charset="0"/>
              <a:buChar char="l"/>
            </a:pPr>
            <a:r>
              <a:rPr lang="en-US" altLang="zh-CN">
                <a:latin typeface="楷体" panose="02010609060101010101" charset="-122"/>
                <a:ea typeface="楷体" panose="02010609060101010101" charset="-122"/>
                <a:cs typeface="楷体" panose="02010609060101010101" charset="-122"/>
              </a:rPr>
              <a:t>ghostnet:</a:t>
            </a:r>
            <a:endParaRPr lang="en-US" altLang="zh-CN">
              <a:latin typeface="楷体" panose="02010609060101010101" charset="-122"/>
              <a:ea typeface="楷体" panose="02010609060101010101" charset="-122"/>
              <a:cs typeface="楷体" panose="02010609060101010101" charset="-122"/>
            </a:endParaRPr>
          </a:p>
          <a:p>
            <a:pPr marL="285750" indent="-285750">
              <a:lnSpc>
                <a:spcPct val="150000"/>
              </a:lnSpc>
              <a:buSzPct val="70000"/>
              <a:buFont typeface="Wingdings" panose="05000000000000000000" charset="0"/>
              <a:buChar char="l"/>
            </a:pPr>
            <a:r>
              <a:rPr lang="zh-CN" altLang="en-US" b="1">
                <a:solidFill>
                  <a:srgbClr val="FF0000"/>
                </a:solidFill>
                <a:latin typeface="楷体" panose="02010609060101010101" charset="-122"/>
                <a:ea typeface="楷体" panose="02010609060101010101" charset="-122"/>
                <a:cs typeface="楷体" panose="02010609060101010101" charset="-122"/>
              </a:rPr>
              <a:t>少量卷积</a:t>
            </a:r>
            <a:r>
              <a:rPr lang="en-US" altLang="zh-CN">
                <a:latin typeface="楷体" panose="02010609060101010101" charset="-122"/>
                <a:ea typeface="楷体" panose="02010609060101010101" charset="-122"/>
                <a:cs typeface="楷体" panose="02010609060101010101" charset="-122"/>
              </a:rPr>
              <a:t>:</a:t>
            </a:r>
            <a:r>
              <a:rPr lang="zh-CN" altLang="en-US">
                <a:latin typeface="楷体" panose="02010609060101010101" charset="-122"/>
                <a:ea typeface="楷体" panose="02010609060101010101" charset="-122"/>
                <a:cs typeface="楷体" panose="02010609060101010101" charset="-122"/>
              </a:rPr>
              <a:t>生成</a:t>
            </a:r>
            <a:r>
              <a:rPr lang="en-US" altLang="zh-CN">
                <a:latin typeface="楷体" panose="02010609060101010101" charset="-122"/>
                <a:ea typeface="楷体" panose="02010609060101010101" charset="-122"/>
                <a:cs typeface="楷体" panose="02010609060101010101" charset="-122"/>
              </a:rPr>
              <a:t> m = n/s </a:t>
            </a:r>
            <a:r>
              <a:rPr lang="zh-CN" altLang="en-US">
                <a:latin typeface="楷体" panose="02010609060101010101" charset="-122"/>
                <a:ea typeface="楷体" panose="02010609060101010101" charset="-122"/>
                <a:cs typeface="楷体" panose="02010609060101010101" charset="-122"/>
              </a:rPr>
              <a:t>个特征图。</a:t>
            </a:r>
            <a:endParaRPr lang="en-US" altLang="zh-CN">
              <a:latin typeface="楷体" panose="02010609060101010101" charset="-122"/>
              <a:ea typeface="楷体" panose="02010609060101010101" charset="-122"/>
              <a:cs typeface="楷体" panose="02010609060101010101" charset="-122"/>
            </a:endParaRPr>
          </a:p>
          <a:p>
            <a:pPr marL="285750" indent="-285750">
              <a:lnSpc>
                <a:spcPct val="150000"/>
              </a:lnSpc>
              <a:buSzPct val="70000"/>
              <a:buFont typeface="Wingdings" panose="05000000000000000000" charset="0"/>
              <a:buChar char="l"/>
            </a:pPr>
            <a:endParaRPr lang="zh-CN" altLang="en-US">
              <a:latin typeface="楷体" panose="02010609060101010101" charset="-122"/>
              <a:ea typeface="楷体" panose="02010609060101010101" charset="-122"/>
              <a:cs typeface="楷体" panose="02010609060101010101" charset="-122"/>
            </a:endParaRPr>
          </a:p>
          <a:p>
            <a:pPr marL="285750" indent="-285750">
              <a:lnSpc>
                <a:spcPct val="150000"/>
              </a:lnSpc>
              <a:buSzPct val="70000"/>
              <a:buFont typeface="Wingdings" panose="05000000000000000000" charset="0"/>
              <a:buChar char="l"/>
            </a:pPr>
            <a:r>
              <a:rPr lang="zh-CN" altLang="en-US" b="1">
                <a:solidFill>
                  <a:srgbClr val="FF0000"/>
                </a:solidFill>
                <a:latin typeface="楷体" panose="02010609060101010101" charset="-122"/>
                <a:ea typeface="楷体" panose="02010609060101010101" charset="-122"/>
                <a:cs typeface="楷体" panose="02010609060101010101" charset="-122"/>
              </a:rPr>
              <a:t>幻化操作</a:t>
            </a:r>
            <a:r>
              <a:rPr lang="en-US" altLang="zh-CN">
                <a:latin typeface="楷体" panose="02010609060101010101" charset="-122"/>
                <a:ea typeface="楷体" panose="02010609060101010101" charset="-122"/>
                <a:cs typeface="楷体" panose="02010609060101010101" charset="-122"/>
              </a:rPr>
              <a:t>:</a:t>
            </a:r>
            <a:r>
              <a:rPr lang="zh-CN" altLang="en-US">
                <a:latin typeface="楷体" panose="02010609060101010101" charset="-122"/>
                <a:ea typeface="楷体" panose="02010609060101010101" charset="-122"/>
                <a:cs typeface="楷体" panose="02010609060101010101" charset="-122"/>
              </a:rPr>
              <a:t>通过廉价的线性运算，将</a:t>
            </a:r>
            <a:r>
              <a:rPr lang="en-US" altLang="zh-CN">
                <a:latin typeface="楷体" panose="02010609060101010101" charset="-122"/>
                <a:ea typeface="楷体" panose="02010609060101010101" charset="-122"/>
                <a:cs typeface="楷体" panose="02010609060101010101" charset="-122"/>
              </a:rPr>
              <a:t> m </a:t>
            </a:r>
            <a:r>
              <a:rPr lang="zh-CN" altLang="en-US">
                <a:latin typeface="楷体" panose="02010609060101010101" charset="-122"/>
                <a:ea typeface="楷体" panose="02010609060101010101" charset="-122"/>
                <a:cs typeface="楷体" panose="02010609060101010101" charset="-122"/>
              </a:rPr>
              <a:t>个特征图幻化为</a:t>
            </a:r>
            <a:r>
              <a:rPr lang="en-US" altLang="zh-CN">
                <a:latin typeface="楷体" panose="02010609060101010101" charset="-122"/>
                <a:ea typeface="楷体" panose="02010609060101010101" charset="-122"/>
                <a:cs typeface="楷体" panose="02010609060101010101" charset="-122"/>
              </a:rPr>
              <a:t> m * (s-1) = n(s-1)/s </a:t>
            </a:r>
            <a:r>
              <a:rPr lang="zh-CN" altLang="en-US">
                <a:latin typeface="楷体" panose="02010609060101010101" charset="-122"/>
                <a:ea typeface="楷体" panose="02010609060101010101" charset="-122"/>
                <a:cs typeface="楷体" panose="02010609060101010101" charset="-122"/>
              </a:rPr>
              <a:t>个特征图。</a:t>
            </a:r>
            <a:endParaRPr lang="zh-CN" altLang="en-US">
              <a:latin typeface="楷体" panose="02010609060101010101" charset="-122"/>
              <a:ea typeface="楷体" panose="02010609060101010101" charset="-122"/>
              <a:cs typeface="楷体" panose="02010609060101010101" charset="-122"/>
            </a:endParaRPr>
          </a:p>
          <a:p>
            <a:pPr indent="0">
              <a:lnSpc>
                <a:spcPct val="150000"/>
              </a:lnSpc>
              <a:buSzPct val="70000"/>
              <a:buFont typeface="Wingdings" panose="05000000000000000000" charset="0"/>
              <a:buNone/>
            </a:pPr>
            <a:endParaRPr lang="zh-CN" altLang="en-US">
              <a:latin typeface="楷体" panose="02010609060101010101" charset="-122"/>
              <a:ea typeface="楷体" panose="02010609060101010101" charset="-122"/>
              <a:cs typeface="楷体" panose="02010609060101010101" charset="-122"/>
            </a:endParaRPr>
          </a:p>
          <a:p>
            <a:pPr marL="285750" indent="-285750">
              <a:lnSpc>
                <a:spcPct val="150000"/>
              </a:lnSpc>
              <a:buSzPct val="70000"/>
              <a:buFont typeface="Wingdings" panose="05000000000000000000" charset="0"/>
              <a:buChar char="l"/>
            </a:pPr>
            <a:endParaRPr lang="en-US" altLang="zh-CN">
              <a:latin typeface="楷体" panose="02010609060101010101" charset="-122"/>
              <a:ea typeface="楷体" panose="02010609060101010101" charset="-122"/>
              <a:cs typeface="楷体" panose="02010609060101010101" charset="-122"/>
            </a:endParaRPr>
          </a:p>
          <a:p>
            <a:pPr indent="0">
              <a:lnSpc>
                <a:spcPct val="150000"/>
              </a:lnSpc>
              <a:buSzPct val="70000"/>
              <a:buFont typeface="Wingdings" panose="05000000000000000000" charset="0"/>
              <a:buNone/>
            </a:pPr>
            <a:endParaRPr lang="en-US" altLang="zh-CN">
              <a:latin typeface="楷体" panose="02010609060101010101" charset="-122"/>
              <a:ea typeface="楷体" panose="02010609060101010101" charset="-122"/>
              <a:cs typeface="楷体" panose="02010609060101010101" charset="-122"/>
            </a:endParaRPr>
          </a:p>
        </p:txBody>
      </p:sp>
      <p:pic>
        <p:nvPicPr>
          <p:cNvPr id="9" name="图片 8"/>
          <p:cNvPicPr>
            <a:picLocks noChangeAspect="1"/>
          </p:cNvPicPr>
          <p:nvPr/>
        </p:nvPicPr>
        <p:blipFill>
          <a:blip r:embed="rId3"/>
          <a:stretch>
            <a:fillRect/>
          </a:stretch>
        </p:blipFill>
        <p:spPr>
          <a:xfrm>
            <a:off x="485775" y="4349750"/>
            <a:ext cx="5610225" cy="762000"/>
          </a:xfrm>
          <a:prstGeom prst="rect">
            <a:avLst/>
          </a:prstGeom>
        </p:spPr>
      </p:pic>
      <p:pic>
        <p:nvPicPr>
          <p:cNvPr id="10" name="图片 9"/>
          <p:cNvPicPr>
            <a:picLocks noChangeAspect="1"/>
          </p:cNvPicPr>
          <p:nvPr/>
        </p:nvPicPr>
        <p:blipFill>
          <a:blip r:embed="rId4"/>
          <a:stretch>
            <a:fillRect/>
          </a:stretch>
        </p:blipFill>
        <p:spPr>
          <a:xfrm>
            <a:off x="6655435" y="1991360"/>
            <a:ext cx="4354195" cy="373380"/>
          </a:xfrm>
          <a:prstGeom prst="rect">
            <a:avLst/>
          </a:prstGeom>
        </p:spPr>
      </p:pic>
      <p:graphicFrame>
        <p:nvGraphicFramePr>
          <p:cNvPr id="11" name="对象 10">
            <a:hlinkClick r:id="" action="ppaction://ole?verb="/>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5" imgW="114300" imgH="215900" progId="Equation.KSEE3">
                  <p:embed/>
                </p:oleObj>
              </mc:Choice>
              <mc:Fallback>
                <p:oleObj name="" r:id="rId5" imgW="114300" imgH="215900" progId="Equation.KSEE3">
                  <p:embed/>
                  <p:pic>
                    <p:nvPicPr>
                      <p:cNvPr id="0" name="图片 1024"/>
                      <p:cNvPicPr/>
                      <p:nvPr/>
                    </p:nvPicPr>
                    <p:blipFill>
                      <a:blip r:embed="rId6"/>
                      <a:stretch>
                        <a:fillRect/>
                      </a:stretch>
                    </p:blipFill>
                    <p:spPr>
                      <a:xfrm>
                        <a:off x="6038850" y="3321050"/>
                        <a:ext cx="114300" cy="215900"/>
                      </a:xfrm>
                      <a:prstGeom prst="rect">
                        <a:avLst/>
                      </a:prstGeom>
                    </p:spPr>
                  </p:pic>
                </p:oleObj>
              </mc:Fallback>
            </mc:AlternateContent>
          </a:graphicData>
        </a:graphic>
      </p:graphicFrame>
      <p:pic>
        <p:nvPicPr>
          <p:cNvPr id="14" name="图片 13"/>
          <p:cNvPicPr>
            <a:picLocks noChangeAspect="1"/>
          </p:cNvPicPr>
          <p:nvPr/>
        </p:nvPicPr>
        <p:blipFill>
          <a:blip r:embed="rId7"/>
          <a:stretch>
            <a:fillRect/>
          </a:stretch>
        </p:blipFill>
        <p:spPr>
          <a:xfrm>
            <a:off x="5011420" y="3846195"/>
            <a:ext cx="7054850" cy="723900"/>
          </a:xfrm>
          <a:prstGeom prst="rect">
            <a:avLst/>
          </a:prstGeom>
        </p:spPr>
      </p:pic>
      <p:pic>
        <p:nvPicPr>
          <p:cNvPr id="15" name="图片 14"/>
          <p:cNvPicPr>
            <a:picLocks noChangeAspect="1"/>
          </p:cNvPicPr>
          <p:nvPr/>
        </p:nvPicPr>
        <p:blipFill>
          <a:blip r:embed="rId8"/>
          <a:stretch>
            <a:fillRect/>
          </a:stretch>
        </p:blipFill>
        <p:spPr>
          <a:xfrm>
            <a:off x="6593840" y="3122295"/>
            <a:ext cx="4781550" cy="723900"/>
          </a:xfrm>
          <a:prstGeom prst="rect">
            <a:avLst/>
          </a:prstGeom>
        </p:spPr>
      </p:pic>
    </p:spTree>
    <p:custDataLst>
      <p:tags r:id="rId9"/>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custDataLst>
              <p:tags r:id="rId1"/>
            </p:custDataLst>
          </p:nvPr>
        </p:nvSpPr>
        <p:spPr>
          <a:xfrm>
            <a:off x="608330" y="840105"/>
            <a:ext cx="10968990" cy="5409565"/>
          </a:xfrm>
        </p:spPr>
        <p:txBody>
          <a:bodyPr/>
          <a:p>
            <a:r>
              <a:rPr lang="zh-CN" altLang="en-US">
                <a:latin typeface="楷体" panose="02010609060101010101" charset="-122"/>
                <a:ea typeface="楷体" panose="02010609060101010101" charset="-122"/>
              </a:rPr>
              <a:t>加速比</a:t>
            </a:r>
            <a:r>
              <a:rPr lang="en-US" altLang="zh-CN">
                <a:latin typeface="楷体" panose="02010609060101010101" charset="-122"/>
                <a:ea typeface="楷体" panose="02010609060101010101" charset="-122"/>
              </a:rPr>
              <a:t>:</a:t>
            </a:r>
            <a:endParaRPr lang="en-US" altLang="zh-CN">
              <a:latin typeface="楷体" panose="02010609060101010101" charset="-122"/>
              <a:ea typeface="楷体" panose="02010609060101010101" charset="-122"/>
            </a:endParaRPr>
          </a:p>
          <a:p>
            <a:endParaRPr lang="en-US" altLang="zh-CN">
              <a:latin typeface="楷体" panose="02010609060101010101" charset="-122"/>
              <a:ea typeface="楷体" panose="02010609060101010101" charset="-122"/>
            </a:endParaRPr>
          </a:p>
        </p:txBody>
      </p:sp>
      <p:sp>
        <p:nvSpPr>
          <p:cNvPr id="4" name="标题 1"/>
          <p:cNvSpPr>
            <a:spLocks noGrp="1"/>
          </p:cNvSpPr>
          <p:nvPr>
            <p:custDataLst>
              <p:tags r:id="rId2"/>
            </p:custDataLst>
          </p:nvPr>
        </p:nvSpPr>
        <p:spPr>
          <a:xfrm>
            <a:off x="735400" y="208985"/>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r>
              <a:rPr lang="en-US" altLang="zh-CN">
                <a:latin typeface="楷体" panose="02010609060101010101" charset="-122"/>
                <a:ea typeface="楷体" panose="02010609060101010101" charset="-122"/>
              </a:rPr>
              <a:t>Ghostnet</a:t>
            </a:r>
            <a:r>
              <a:rPr lang="zh-CN" altLang="en-US">
                <a:latin typeface="楷体" panose="02010609060101010101" charset="-122"/>
                <a:ea typeface="楷体" panose="02010609060101010101" charset="-122"/>
              </a:rPr>
              <a:t>方法</a:t>
            </a:r>
            <a:r>
              <a:rPr lang="en-US" altLang="zh-CN">
                <a:latin typeface="楷体" panose="02010609060101010101" charset="-122"/>
                <a:ea typeface="楷体" panose="02010609060101010101" charset="-122"/>
              </a:rPr>
              <a:t>:</a:t>
            </a:r>
            <a:endParaRPr lang="en-US" altLang="zh-CN">
              <a:latin typeface="楷体" panose="02010609060101010101" charset="-122"/>
              <a:ea typeface="楷体" panose="02010609060101010101" charset="-122"/>
            </a:endParaRPr>
          </a:p>
        </p:txBody>
      </p:sp>
      <p:pic>
        <p:nvPicPr>
          <p:cNvPr id="5" name="图片 4"/>
          <p:cNvPicPr>
            <a:picLocks noChangeAspect="1"/>
          </p:cNvPicPr>
          <p:nvPr/>
        </p:nvPicPr>
        <p:blipFill>
          <a:blip r:embed="rId3"/>
          <a:stretch>
            <a:fillRect/>
          </a:stretch>
        </p:blipFill>
        <p:spPr>
          <a:xfrm>
            <a:off x="608330" y="1266825"/>
            <a:ext cx="5842000" cy="2686050"/>
          </a:xfrm>
          <a:prstGeom prst="rect">
            <a:avLst/>
          </a:prstGeom>
        </p:spPr>
      </p:pic>
      <p:sp>
        <p:nvSpPr>
          <p:cNvPr id="6" name="文本框 5"/>
          <p:cNvSpPr txBox="1"/>
          <p:nvPr/>
        </p:nvSpPr>
        <p:spPr>
          <a:xfrm>
            <a:off x="7166610" y="927100"/>
            <a:ext cx="3949700" cy="1753235"/>
          </a:xfrm>
          <a:prstGeom prst="rect">
            <a:avLst/>
          </a:prstGeom>
          <a:noFill/>
        </p:spPr>
        <p:txBody>
          <a:bodyPr wrap="square" rtlCol="0">
            <a:spAutoFit/>
          </a:bodyPr>
          <a:p>
            <a:pPr>
              <a:lnSpc>
                <a:spcPct val="150000"/>
              </a:lnSpc>
            </a:pPr>
            <a:r>
              <a:rPr lang="zh-CN" altLang="en-US">
                <a:latin typeface="楷体" panose="02010609060101010101" charset="-122"/>
                <a:ea typeface="楷体" panose="02010609060101010101" charset="-122"/>
                <a:cs typeface="楷体" panose="02010609060101010101" charset="-122"/>
              </a:rPr>
              <a:t>原文做了两个合理假设：</a:t>
            </a:r>
            <a:endParaRPr lang="zh-CN" altLang="en-US">
              <a:latin typeface="楷体" panose="02010609060101010101" charset="-122"/>
              <a:ea typeface="楷体" panose="02010609060101010101" charset="-122"/>
              <a:cs typeface="楷体" panose="02010609060101010101" charset="-122"/>
            </a:endParaRPr>
          </a:p>
          <a:p>
            <a:pPr indent="457200">
              <a:lnSpc>
                <a:spcPct val="150000"/>
              </a:lnSpc>
            </a:pPr>
            <a:r>
              <a:rPr lang="zh-CN" altLang="en-US">
                <a:latin typeface="楷体" panose="02010609060101010101" charset="-122"/>
                <a:ea typeface="楷体" panose="02010609060101010101" charset="-122"/>
                <a:cs typeface="楷体" panose="02010609060101010101" charset="-122"/>
              </a:rPr>
              <a:t>卷积核大小相近：</a:t>
            </a:r>
            <a:r>
              <a:rPr lang="en-US" altLang="zh-CN">
                <a:latin typeface="楷体" panose="02010609060101010101" charset="-122"/>
                <a:ea typeface="楷体" panose="02010609060101010101" charset="-122"/>
                <a:cs typeface="楷体" panose="02010609060101010101" charset="-122"/>
              </a:rPr>
              <a:t>d*d ≈k*k</a:t>
            </a:r>
            <a:endParaRPr lang="zh-CN" altLang="en-US">
              <a:latin typeface="楷体" panose="02010609060101010101" charset="-122"/>
              <a:ea typeface="楷体" panose="02010609060101010101" charset="-122"/>
              <a:cs typeface="楷体" panose="02010609060101010101" charset="-122"/>
            </a:endParaRPr>
          </a:p>
          <a:p>
            <a:pPr indent="457200">
              <a:lnSpc>
                <a:spcPct val="150000"/>
              </a:lnSpc>
            </a:pPr>
            <a:r>
              <a:rPr lang="zh-CN" altLang="en-US">
                <a:latin typeface="楷体" panose="02010609060101010101" charset="-122"/>
                <a:ea typeface="楷体" panose="02010609060101010101" charset="-122"/>
                <a:cs typeface="楷体" panose="02010609060101010101" charset="-122"/>
              </a:rPr>
              <a:t>通道数远大于幻化倍数：</a:t>
            </a:r>
            <a:r>
              <a:rPr lang="en-US" altLang="zh-CN">
                <a:latin typeface="楷体" panose="02010609060101010101" charset="-122"/>
                <a:ea typeface="楷体" panose="02010609060101010101" charset="-122"/>
                <a:cs typeface="楷体" panose="02010609060101010101" charset="-122"/>
              </a:rPr>
              <a:t>s&lt;&lt;c</a:t>
            </a:r>
            <a:endParaRPr lang="zh-CN" altLang="en-US">
              <a:latin typeface="楷体" panose="02010609060101010101" charset="-122"/>
              <a:ea typeface="楷体" panose="02010609060101010101" charset="-122"/>
              <a:cs typeface="楷体" panose="02010609060101010101" charset="-122"/>
            </a:endParaRPr>
          </a:p>
          <a:p>
            <a:pPr>
              <a:lnSpc>
                <a:spcPct val="150000"/>
              </a:lnSpc>
            </a:pPr>
            <a:endParaRPr lang="zh-CN" altLang="en-US">
              <a:latin typeface="楷体" panose="02010609060101010101" charset="-122"/>
              <a:ea typeface="楷体" panose="02010609060101010101" charset="-122"/>
              <a:cs typeface="楷体" panose="02010609060101010101" charset="-122"/>
            </a:endParaRPr>
          </a:p>
        </p:txBody>
      </p:sp>
      <p:pic>
        <p:nvPicPr>
          <p:cNvPr id="7" name="图片 6"/>
          <p:cNvPicPr>
            <a:picLocks noChangeAspect="1"/>
          </p:cNvPicPr>
          <p:nvPr/>
        </p:nvPicPr>
        <p:blipFill>
          <a:blip r:embed="rId4"/>
          <a:stretch>
            <a:fillRect/>
          </a:stretch>
        </p:blipFill>
        <p:spPr>
          <a:xfrm>
            <a:off x="5308600" y="2740660"/>
            <a:ext cx="6883400" cy="1143000"/>
          </a:xfrm>
          <a:prstGeom prst="rect">
            <a:avLst/>
          </a:prstGeom>
        </p:spPr>
      </p:pic>
    </p:spTree>
    <p:custDataLst>
      <p:tags r:id="rId5"/>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latin typeface="楷体" panose="02010609060101010101" charset="-122"/>
                <a:ea typeface="楷体" panose="02010609060101010101" charset="-122"/>
              </a:rPr>
              <a:t>Ghost bottleneck:</a:t>
            </a:r>
            <a:r>
              <a:rPr lang="zh-CN" altLang="en-US">
                <a:latin typeface="楷体" panose="02010609060101010101" charset="-122"/>
                <a:ea typeface="楷体" panose="02010609060101010101" charset="-122"/>
              </a:rPr>
              <a:t>构建完整的网络基础单元</a:t>
            </a:r>
            <a:endParaRPr lang="zh-CN" altLang="en-US">
              <a:latin typeface="楷体" panose="02010609060101010101" charset="-122"/>
              <a:ea typeface="楷体" panose="02010609060101010101" charset="-122"/>
            </a:endParaRPr>
          </a:p>
        </p:txBody>
      </p:sp>
      <p:pic>
        <p:nvPicPr>
          <p:cNvPr id="4" name="内容占位符 3"/>
          <p:cNvPicPr>
            <a:picLocks noChangeAspect="1"/>
          </p:cNvPicPr>
          <p:nvPr>
            <p:ph idx="1"/>
            <p:custDataLst>
              <p:tags r:id="rId2"/>
            </p:custDataLst>
          </p:nvPr>
        </p:nvPicPr>
        <p:blipFill>
          <a:blip r:embed="rId3"/>
          <a:stretch>
            <a:fillRect/>
          </a:stretch>
        </p:blipFill>
        <p:spPr>
          <a:xfrm>
            <a:off x="2044065" y="1785620"/>
            <a:ext cx="1866900" cy="3041650"/>
          </a:xfrm>
          <a:prstGeom prst="rect">
            <a:avLst/>
          </a:prstGeom>
        </p:spPr>
      </p:pic>
      <p:sp>
        <p:nvSpPr>
          <p:cNvPr id="6" name="文本框 5"/>
          <p:cNvSpPr txBox="1"/>
          <p:nvPr/>
        </p:nvSpPr>
        <p:spPr>
          <a:xfrm>
            <a:off x="4609465" y="1785620"/>
            <a:ext cx="6666865" cy="368300"/>
          </a:xfrm>
          <a:prstGeom prst="rect">
            <a:avLst/>
          </a:prstGeom>
        </p:spPr>
        <p:txBody>
          <a:bodyPr wrap="square">
            <a:spAutoFit/>
          </a:bodyPr>
          <a:p>
            <a:pPr marL="0" indent="0">
              <a:spcBef>
                <a:spcPct val="0"/>
              </a:spcBef>
              <a:spcAft>
                <a:spcPct val="0"/>
              </a:spcAft>
              <a:buFont typeface="Arial" panose="020B0604020202020204"/>
              <a:buChar char="•"/>
            </a:pPr>
            <a:r>
              <a:rPr lang="zh-CN" altLang="en-US" b="1" i="0">
                <a:solidFill>
                  <a:srgbClr val="000000"/>
                </a:solidFill>
                <a:latin typeface="楷体" panose="02010609060101010101" charset="-122"/>
                <a:ea typeface="楷体" panose="02010609060101010101" charset="-122"/>
                <a:cs typeface="楷体" panose="02010609060101010101" charset="-122"/>
              </a:rPr>
              <a:t>双重路径设计</a:t>
            </a:r>
            <a:r>
              <a:rPr lang="zh-CN" altLang="en-US" b="0" i="0">
                <a:solidFill>
                  <a:srgbClr val="000000"/>
                </a:solidFill>
                <a:latin typeface="楷体" panose="02010609060101010101" charset="-122"/>
                <a:ea typeface="楷体" panose="02010609060101010101" charset="-122"/>
                <a:cs typeface="楷体" panose="02010609060101010101" charset="-122"/>
              </a:rPr>
              <a:t>：主路径（特征处理） </a:t>
            </a:r>
            <a:r>
              <a:rPr lang="en-US" altLang="zh-CN" b="0" i="0">
                <a:solidFill>
                  <a:srgbClr val="000000"/>
                </a:solidFill>
                <a:latin typeface="楷体" panose="02010609060101010101" charset="-122"/>
                <a:ea typeface="楷体" panose="02010609060101010101" charset="-122"/>
                <a:cs typeface="楷体" panose="02010609060101010101" charset="-122"/>
              </a:rPr>
              <a:t>+ </a:t>
            </a:r>
            <a:r>
              <a:rPr lang="zh-CN" altLang="en-US" b="0" i="0">
                <a:solidFill>
                  <a:srgbClr val="000000"/>
                </a:solidFill>
                <a:latin typeface="楷体" panose="02010609060101010101" charset="-122"/>
                <a:ea typeface="楷体" panose="02010609060101010101" charset="-122"/>
                <a:cs typeface="楷体" panose="02010609060101010101" charset="-122"/>
              </a:rPr>
              <a:t>快捷路径（恒等映射）</a:t>
            </a:r>
            <a:endParaRPr lang="zh-CN" altLang="en-US" b="0" i="0">
              <a:solidFill>
                <a:srgbClr val="000000"/>
              </a:solidFill>
              <a:latin typeface="楷体" panose="02010609060101010101" charset="-122"/>
              <a:ea typeface="楷体" panose="02010609060101010101" charset="-122"/>
              <a:cs typeface="楷体" panose="02010609060101010101" charset="-122"/>
            </a:endParaRPr>
          </a:p>
        </p:txBody>
      </p:sp>
      <p:sp>
        <p:nvSpPr>
          <p:cNvPr id="7" name="文本框 6"/>
          <p:cNvSpPr txBox="1"/>
          <p:nvPr/>
        </p:nvSpPr>
        <p:spPr>
          <a:xfrm>
            <a:off x="4609465" y="2153920"/>
            <a:ext cx="6666865" cy="3830955"/>
          </a:xfrm>
          <a:prstGeom prst="rect">
            <a:avLst/>
          </a:prstGeom>
        </p:spPr>
        <p:txBody>
          <a:bodyPr wrap="square">
            <a:spAutoFit/>
          </a:bodyPr>
          <a:p>
            <a:pPr marL="0" indent="0">
              <a:lnSpc>
                <a:spcPct val="150000"/>
              </a:lnSpc>
              <a:spcBef>
                <a:spcPct val="0"/>
              </a:spcBef>
              <a:spcAft>
                <a:spcPct val="0"/>
              </a:spcAft>
              <a:buFont typeface="Arial" panose="020B0604020202020204"/>
              <a:buChar char="•"/>
            </a:pPr>
            <a:r>
              <a:rPr lang="zh-CN" altLang="en-US" i="0">
                <a:solidFill>
                  <a:srgbClr val="000000"/>
                </a:solidFill>
                <a:latin typeface="楷体" panose="02010609060101010101" charset="-122"/>
                <a:ea typeface="楷体" panose="02010609060101010101" charset="-122"/>
                <a:cs typeface="楷体" panose="02010609060101010101" charset="-122"/>
              </a:rPr>
              <a:t>第</a:t>
            </a:r>
            <a:r>
              <a:rPr lang="en-US" altLang="zh-CN" i="0">
                <a:solidFill>
                  <a:srgbClr val="000000"/>
                </a:solidFill>
                <a:latin typeface="楷体" panose="02010609060101010101" charset="-122"/>
                <a:ea typeface="楷体" panose="02010609060101010101" charset="-122"/>
                <a:cs typeface="楷体" panose="02010609060101010101" charset="-122"/>
              </a:rPr>
              <a:t>①</a:t>
            </a:r>
            <a:r>
              <a:rPr lang="zh-CN" altLang="en-US" i="0">
                <a:solidFill>
                  <a:srgbClr val="000000"/>
                </a:solidFill>
                <a:latin typeface="楷体" panose="02010609060101010101" charset="-122"/>
                <a:ea typeface="楷体" panose="02010609060101010101" charset="-122"/>
                <a:cs typeface="楷体" panose="02010609060101010101" charset="-122"/>
              </a:rPr>
              <a:t>步：扩展与提炼</a:t>
            </a:r>
            <a:endParaRPr lang="zh-CN" altLang="en-US" i="0">
              <a:solidFill>
                <a:srgbClr val="000000"/>
              </a:solidFill>
              <a:latin typeface="楷体" panose="02010609060101010101" charset="-122"/>
              <a:ea typeface="楷体" panose="02010609060101010101" charset="-122"/>
              <a:cs typeface="楷体" panose="02010609060101010101" charset="-122"/>
            </a:endParaRPr>
          </a:p>
          <a:p>
            <a:pPr marL="0" lvl="1" indent="457200">
              <a:lnSpc>
                <a:spcPct val="150000"/>
              </a:lnSpc>
              <a:spcBef>
                <a:spcPct val="0"/>
              </a:spcBef>
              <a:spcAft>
                <a:spcPct val="0"/>
              </a:spcAft>
              <a:buFont typeface="Arial" panose="020B0604020202020204"/>
              <a:buNone/>
            </a:pPr>
            <a:r>
              <a:rPr lang="zh-CN" altLang="en-US" i="0">
                <a:solidFill>
                  <a:srgbClr val="000000"/>
                </a:solidFill>
                <a:latin typeface="楷体" panose="02010609060101010101" charset="-122"/>
                <a:ea typeface="楷体" panose="02010609060101010101" charset="-122"/>
                <a:cs typeface="楷体" panose="02010609060101010101" charset="-122"/>
              </a:rPr>
              <a:t>操作：第一个</a:t>
            </a:r>
            <a:r>
              <a:rPr lang="en-US" altLang="zh-CN" i="0">
                <a:solidFill>
                  <a:srgbClr val="000000"/>
                </a:solidFill>
                <a:latin typeface="楷体" panose="02010609060101010101" charset="-122"/>
                <a:ea typeface="楷体" panose="02010609060101010101" charset="-122"/>
                <a:cs typeface="楷体" panose="02010609060101010101" charset="-122"/>
              </a:rPr>
              <a:t>Ghost</a:t>
            </a:r>
            <a:r>
              <a:rPr lang="zh-CN" altLang="en-US" i="0">
                <a:solidFill>
                  <a:srgbClr val="000000"/>
                </a:solidFill>
                <a:latin typeface="楷体" panose="02010609060101010101" charset="-122"/>
                <a:ea typeface="楷体" panose="02010609060101010101" charset="-122"/>
                <a:cs typeface="楷体" panose="02010609060101010101" charset="-122"/>
              </a:rPr>
              <a:t>模块（提升通道数）</a:t>
            </a:r>
            <a:endParaRPr lang="zh-CN" altLang="en-US" i="0">
              <a:solidFill>
                <a:srgbClr val="000000"/>
              </a:solidFill>
              <a:latin typeface="楷体" panose="02010609060101010101" charset="-122"/>
              <a:ea typeface="楷体" panose="02010609060101010101" charset="-122"/>
              <a:cs typeface="楷体" panose="02010609060101010101" charset="-122"/>
            </a:endParaRPr>
          </a:p>
          <a:p>
            <a:pPr marL="0" lvl="1" indent="457200">
              <a:lnSpc>
                <a:spcPct val="150000"/>
              </a:lnSpc>
              <a:spcBef>
                <a:spcPct val="0"/>
              </a:spcBef>
              <a:spcAft>
                <a:spcPct val="0"/>
              </a:spcAft>
              <a:buFont typeface="Arial" panose="020B0604020202020204"/>
              <a:buNone/>
            </a:pPr>
            <a:r>
              <a:rPr lang="zh-CN" altLang="en-US" i="0">
                <a:solidFill>
                  <a:srgbClr val="000000"/>
                </a:solidFill>
                <a:latin typeface="楷体" panose="02010609060101010101" charset="-122"/>
                <a:ea typeface="楷体" panose="02010609060101010101" charset="-122"/>
                <a:cs typeface="楷体" panose="02010609060101010101" charset="-122"/>
              </a:rPr>
              <a:t>目的：在高维空间中更有效地提炼特征</a:t>
            </a:r>
            <a:endParaRPr lang="zh-CN" altLang="en-US" i="0">
              <a:solidFill>
                <a:srgbClr val="000000"/>
              </a:solidFill>
              <a:latin typeface="楷体" panose="02010609060101010101" charset="-122"/>
              <a:ea typeface="楷体" panose="02010609060101010101" charset="-122"/>
              <a:cs typeface="楷体" panose="02010609060101010101" charset="-122"/>
            </a:endParaRPr>
          </a:p>
          <a:p>
            <a:pPr marL="0" indent="0">
              <a:lnSpc>
                <a:spcPct val="150000"/>
              </a:lnSpc>
              <a:spcBef>
                <a:spcPct val="0"/>
              </a:spcBef>
              <a:spcAft>
                <a:spcPct val="0"/>
              </a:spcAft>
              <a:buFont typeface="Arial" panose="020B0604020202020204"/>
              <a:buChar char="•"/>
            </a:pPr>
            <a:r>
              <a:rPr lang="zh-CN" altLang="en-US" i="0">
                <a:solidFill>
                  <a:srgbClr val="000000"/>
                </a:solidFill>
                <a:latin typeface="楷体" panose="02010609060101010101" charset="-122"/>
                <a:ea typeface="楷体" panose="02010609060101010101" charset="-122"/>
                <a:cs typeface="楷体" panose="02010609060101010101" charset="-122"/>
              </a:rPr>
              <a:t>第</a:t>
            </a:r>
            <a:r>
              <a:rPr lang="en-US" altLang="zh-CN" i="0">
                <a:solidFill>
                  <a:srgbClr val="000000"/>
                </a:solidFill>
                <a:latin typeface="楷体" panose="02010609060101010101" charset="-122"/>
                <a:ea typeface="楷体" panose="02010609060101010101" charset="-122"/>
                <a:cs typeface="楷体" panose="02010609060101010101" charset="-122"/>
              </a:rPr>
              <a:t>②</a:t>
            </a:r>
            <a:r>
              <a:rPr lang="zh-CN" altLang="en-US" i="0">
                <a:solidFill>
                  <a:srgbClr val="000000"/>
                </a:solidFill>
                <a:latin typeface="楷体" panose="02010609060101010101" charset="-122"/>
                <a:ea typeface="楷体" panose="02010609060101010101" charset="-122"/>
                <a:cs typeface="楷体" panose="02010609060101010101" charset="-122"/>
              </a:rPr>
              <a:t>步：非线性激活</a:t>
            </a:r>
            <a:endParaRPr lang="zh-CN" altLang="en-US" i="0">
              <a:solidFill>
                <a:srgbClr val="000000"/>
              </a:solidFill>
              <a:latin typeface="楷体" panose="02010609060101010101" charset="-122"/>
              <a:ea typeface="楷体" panose="02010609060101010101" charset="-122"/>
              <a:cs typeface="楷体" panose="02010609060101010101" charset="-122"/>
            </a:endParaRPr>
          </a:p>
          <a:p>
            <a:pPr marL="0" lvl="1" indent="457200">
              <a:lnSpc>
                <a:spcPct val="150000"/>
              </a:lnSpc>
              <a:spcBef>
                <a:spcPct val="0"/>
              </a:spcBef>
              <a:spcAft>
                <a:spcPct val="0"/>
              </a:spcAft>
              <a:buFont typeface="Arial" panose="020B0604020202020204"/>
              <a:buNone/>
            </a:pPr>
            <a:r>
              <a:rPr lang="zh-CN" altLang="en-US" i="0">
                <a:solidFill>
                  <a:srgbClr val="000000"/>
                </a:solidFill>
                <a:latin typeface="楷体" panose="02010609060101010101" charset="-122"/>
                <a:ea typeface="楷体" panose="02010609060101010101" charset="-122"/>
                <a:cs typeface="楷体" panose="02010609060101010101" charset="-122"/>
              </a:rPr>
              <a:t>操作：</a:t>
            </a:r>
            <a:r>
              <a:rPr lang="en-US" altLang="zh-CN" i="0">
                <a:solidFill>
                  <a:srgbClr val="000000"/>
                </a:solidFill>
                <a:latin typeface="楷体" panose="02010609060101010101" charset="-122"/>
                <a:ea typeface="楷体" panose="02010609060101010101" charset="-122"/>
                <a:cs typeface="楷体" panose="02010609060101010101" charset="-122"/>
              </a:rPr>
              <a:t>BN + ReLU</a:t>
            </a:r>
            <a:endParaRPr lang="en-US" altLang="zh-CN" i="0">
              <a:solidFill>
                <a:srgbClr val="000000"/>
              </a:solidFill>
              <a:latin typeface="楷体" panose="02010609060101010101" charset="-122"/>
              <a:ea typeface="楷体" panose="02010609060101010101" charset="-122"/>
              <a:cs typeface="楷体" panose="02010609060101010101" charset="-122"/>
            </a:endParaRPr>
          </a:p>
          <a:p>
            <a:pPr marL="0" lvl="1" indent="457200">
              <a:lnSpc>
                <a:spcPct val="150000"/>
              </a:lnSpc>
              <a:spcBef>
                <a:spcPct val="0"/>
              </a:spcBef>
              <a:spcAft>
                <a:spcPct val="0"/>
              </a:spcAft>
              <a:buFont typeface="Arial" panose="020B0604020202020204"/>
              <a:buNone/>
            </a:pPr>
            <a:r>
              <a:rPr lang="zh-CN" altLang="en-US" i="0">
                <a:solidFill>
                  <a:srgbClr val="000000"/>
                </a:solidFill>
                <a:latin typeface="楷体" panose="02010609060101010101" charset="-122"/>
                <a:ea typeface="楷体" panose="02010609060101010101" charset="-122"/>
                <a:cs typeface="楷体" panose="02010609060101010101" charset="-122"/>
              </a:rPr>
              <a:t>目的：稳定训练</a:t>
            </a:r>
            <a:r>
              <a:rPr lang="en-US" altLang="zh-CN" i="0">
                <a:solidFill>
                  <a:srgbClr val="000000"/>
                </a:solidFill>
                <a:latin typeface="楷体" panose="02010609060101010101" charset="-122"/>
                <a:ea typeface="楷体" panose="02010609060101010101" charset="-122"/>
                <a:cs typeface="楷体" panose="02010609060101010101" charset="-122"/>
              </a:rPr>
              <a:t> (BN) + </a:t>
            </a:r>
            <a:r>
              <a:rPr lang="zh-CN" altLang="en-US" i="0">
                <a:solidFill>
                  <a:srgbClr val="000000"/>
                </a:solidFill>
                <a:latin typeface="楷体" panose="02010609060101010101" charset="-122"/>
                <a:ea typeface="楷体" panose="02010609060101010101" charset="-122"/>
                <a:cs typeface="楷体" panose="02010609060101010101" charset="-122"/>
              </a:rPr>
              <a:t>增强拟合能力</a:t>
            </a:r>
            <a:r>
              <a:rPr lang="en-US" altLang="zh-CN" i="0">
                <a:solidFill>
                  <a:srgbClr val="000000"/>
                </a:solidFill>
                <a:latin typeface="楷体" panose="02010609060101010101" charset="-122"/>
                <a:ea typeface="楷体" panose="02010609060101010101" charset="-122"/>
                <a:cs typeface="楷体" panose="02010609060101010101" charset="-122"/>
              </a:rPr>
              <a:t> (ReLU)</a:t>
            </a:r>
            <a:endParaRPr lang="en-US" altLang="zh-CN" i="0">
              <a:solidFill>
                <a:srgbClr val="000000"/>
              </a:solidFill>
              <a:latin typeface="楷体" panose="02010609060101010101" charset="-122"/>
              <a:ea typeface="楷体" panose="02010609060101010101" charset="-122"/>
              <a:cs typeface="楷体" panose="02010609060101010101" charset="-122"/>
            </a:endParaRPr>
          </a:p>
          <a:p>
            <a:pPr marL="0" indent="0">
              <a:lnSpc>
                <a:spcPct val="150000"/>
              </a:lnSpc>
              <a:spcBef>
                <a:spcPct val="0"/>
              </a:spcBef>
              <a:spcAft>
                <a:spcPct val="0"/>
              </a:spcAft>
              <a:buFont typeface="Arial" panose="020B0604020202020204"/>
              <a:buChar char="•"/>
            </a:pPr>
            <a:r>
              <a:rPr lang="zh-CN" altLang="en-US" i="0">
                <a:solidFill>
                  <a:srgbClr val="000000"/>
                </a:solidFill>
                <a:latin typeface="楷体" panose="02010609060101010101" charset="-122"/>
                <a:ea typeface="楷体" panose="02010609060101010101" charset="-122"/>
                <a:cs typeface="楷体" panose="02010609060101010101" charset="-122"/>
              </a:rPr>
              <a:t>第</a:t>
            </a:r>
            <a:r>
              <a:rPr lang="en-US" altLang="zh-CN" i="0">
                <a:solidFill>
                  <a:srgbClr val="000000"/>
                </a:solidFill>
                <a:latin typeface="楷体" panose="02010609060101010101" charset="-122"/>
                <a:ea typeface="楷体" panose="02010609060101010101" charset="-122"/>
                <a:cs typeface="楷体" panose="02010609060101010101" charset="-122"/>
              </a:rPr>
              <a:t>③</a:t>
            </a:r>
            <a:r>
              <a:rPr lang="zh-CN" altLang="en-US" i="0">
                <a:solidFill>
                  <a:srgbClr val="000000"/>
                </a:solidFill>
                <a:latin typeface="楷体" panose="02010609060101010101" charset="-122"/>
                <a:ea typeface="楷体" panose="02010609060101010101" charset="-122"/>
                <a:cs typeface="楷体" panose="02010609060101010101" charset="-122"/>
              </a:rPr>
              <a:t>步：压缩与融合</a:t>
            </a:r>
            <a:endParaRPr lang="zh-CN" altLang="en-US" i="0">
              <a:solidFill>
                <a:srgbClr val="000000"/>
              </a:solidFill>
              <a:latin typeface="楷体" panose="02010609060101010101" charset="-122"/>
              <a:ea typeface="楷体" panose="02010609060101010101" charset="-122"/>
              <a:cs typeface="楷体" panose="02010609060101010101" charset="-122"/>
            </a:endParaRPr>
          </a:p>
          <a:p>
            <a:pPr marL="0" lvl="1" indent="457200">
              <a:lnSpc>
                <a:spcPct val="150000"/>
              </a:lnSpc>
              <a:spcBef>
                <a:spcPct val="0"/>
              </a:spcBef>
              <a:spcAft>
                <a:spcPct val="0"/>
              </a:spcAft>
              <a:buFont typeface="Arial" panose="020B0604020202020204"/>
              <a:buNone/>
            </a:pPr>
            <a:r>
              <a:rPr lang="zh-CN" altLang="en-US" i="0">
                <a:solidFill>
                  <a:srgbClr val="000000"/>
                </a:solidFill>
                <a:latin typeface="楷体" panose="02010609060101010101" charset="-122"/>
                <a:ea typeface="楷体" panose="02010609060101010101" charset="-122"/>
                <a:cs typeface="楷体" panose="02010609060101010101" charset="-122"/>
              </a:rPr>
              <a:t>操作：第二个</a:t>
            </a:r>
            <a:r>
              <a:rPr lang="en-US" altLang="zh-CN" i="0">
                <a:solidFill>
                  <a:srgbClr val="000000"/>
                </a:solidFill>
                <a:latin typeface="楷体" panose="02010609060101010101" charset="-122"/>
                <a:ea typeface="楷体" panose="02010609060101010101" charset="-122"/>
                <a:cs typeface="楷体" panose="02010609060101010101" charset="-122"/>
              </a:rPr>
              <a:t>Ghost</a:t>
            </a:r>
            <a:r>
              <a:rPr lang="zh-CN" altLang="en-US" i="0">
                <a:solidFill>
                  <a:srgbClr val="000000"/>
                </a:solidFill>
                <a:latin typeface="楷体" panose="02010609060101010101" charset="-122"/>
                <a:ea typeface="楷体" panose="02010609060101010101" charset="-122"/>
                <a:cs typeface="楷体" panose="02010609060101010101" charset="-122"/>
              </a:rPr>
              <a:t>模块（降低通道数至与输入一致）</a:t>
            </a:r>
            <a:endParaRPr lang="zh-CN" altLang="en-US" i="0">
              <a:solidFill>
                <a:srgbClr val="000000"/>
              </a:solidFill>
              <a:latin typeface="楷体" panose="02010609060101010101" charset="-122"/>
              <a:ea typeface="楷体" panose="02010609060101010101" charset="-122"/>
              <a:cs typeface="楷体" panose="02010609060101010101" charset="-122"/>
            </a:endParaRPr>
          </a:p>
          <a:p>
            <a:pPr marL="0" lvl="1" indent="457200">
              <a:lnSpc>
                <a:spcPct val="150000"/>
              </a:lnSpc>
              <a:spcBef>
                <a:spcPct val="0"/>
              </a:spcBef>
              <a:spcAft>
                <a:spcPct val="0"/>
              </a:spcAft>
              <a:buFont typeface="Arial" panose="020B0604020202020204"/>
              <a:buNone/>
            </a:pPr>
            <a:r>
              <a:rPr lang="zh-CN" altLang="en-US" i="0">
                <a:solidFill>
                  <a:srgbClr val="000000"/>
                </a:solidFill>
                <a:latin typeface="楷体" panose="02010609060101010101" charset="-122"/>
                <a:ea typeface="楷体" panose="02010609060101010101" charset="-122"/>
                <a:cs typeface="楷体" panose="02010609060101010101" charset="-122"/>
              </a:rPr>
              <a:t>目的：为与快捷路径相加做准备</a:t>
            </a:r>
            <a:endParaRPr lang="zh-CN" altLang="en-US" i="0">
              <a:solidFill>
                <a:srgbClr val="000000"/>
              </a:solidFill>
              <a:latin typeface="楷体" panose="02010609060101010101" charset="-122"/>
              <a:ea typeface="楷体" panose="02010609060101010101" charset="-122"/>
              <a:cs typeface="楷体" panose="02010609060101010101" charset="-122"/>
            </a:endParaRPr>
          </a:p>
        </p:txBody>
      </p:sp>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latin typeface="楷体" panose="02010609060101010101" charset="-122"/>
                <a:ea typeface="楷体" panose="02010609060101010101" charset="-122"/>
              </a:rPr>
              <a:t>实验测试结果</a:t>
            </a:r>
            <a:endParaRPr lang="zh-CN" altLang="en-US">
              <a:latin typeface="楷体" panose="02010609060101010101" charset="-122"/>
              <a:ea typeface="楷体" panose="02010609060101010101" charset="-122"/>
            </a:endParaRPr>
          </a:p>
        </p:txBody>
      </p:sp>
      <p:pic>
        <p:nvPicPr>
          <p:cNvPr id="3" name="图片 2"/>
          <p:cNvPicPr>
            <a:picLocks noChangeAspect="1"/>
          </p:cNvPicPr>
          <p:nvPr/>
        </p:nvPicPr>
        <p:blipFill>
          <a:blip r:embed="rId2"/>
          <a:stretch>
            <a:fillRect/>
          </a:stretch>
        </p:blipFill>
        <p:spPr>
          <a:xfrm>
            <a:off x="2137410" y="1163320"/>
            <a:ext cx="8030210" cy="5339715"/>
          </a:xfrm>
          <a:prstGeom prst="rect">
            <a:avLst/>
          </a:prstGeom>
        </p:spPr>
      </p:pic>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latin typeface="楷体" panose="02010609060101010101" charset="-122"/>
                <a:ea typeface="楷体" panose="02010609060101010101" charset="-122"/>
              </a:rPr>
              <a:t>实验测试结果</a:t>
            </a:r>
            <a:endParaRPr lang="zh-CN" altLang="en-US">
              <a:latin typeface="楷体" panose="02010609060101010101" charset="-122"/>
              <a:ea typeface="楷体" panose="02010609060101010101" charset="-122"/>
            </a:endParaRPr>
          </a:p>
        </p:txBody>
      </p:sp>
      <p:pic>
        <p:nvPicPr>
          <p:cNvPr id="3" name="内容占位符 2"/>
          <p:cNvPicPr>
            <a:picLocks noChangeAspect="1"/>
          </p:cNvPicPr>
          <p:nvPr>
            <p:ph idx="1"/>
            <p:custDataLst>
              <p:tags r:id="rId2"/>
            </p:custDataLst>
          </p:nvPr>
        </p:nvPicPr>
        <p:blipFill>
          <a:blip r:embed="rId3"/>
          <a:stretch>
            <a:fillRect/>
          </a:stretch>
        </p:blipFill>
        <p:spPr>
          <a:xfrm>
            <a:off x="608330" y="1781810"/>
            <a:ext cx="4222750" cy="3835400"/>
          </a:xfrm>
          <a:prstGeom prst="rect">
            <a:avLst/>
          </a:prstGeom>
        </p:spPr>
      </p:pic>
      <p:pic>
        <p:nvPicPr>
          <p:cNvPr id="4" name="图片 3"/>
          <p:cNvPicPr>
            <a:picLocks noChangeAspect="1"/>
          </p:cNvPicPr>
          <p:nvPr/>
        </p:nvPicPr>
        <p:blipFill>
          <a:blip r:embed="rId4"/>
          <a:stretch>
            <a:fillRect/>
          </a:stretch>
        </p:blipFill>
        <p:spPr>
          <a:xfrm>
            <a:off x="4885690" y="527050"/>
            <a:ext cx="7180580" cy="5985510"/>
          </a:xfrm>
          <a:prstGeom prst="rect">
            <a:avLst/>
          </a:prstGeom>
        </p:spPr>
      </p:pic>
    </p:spTree>
    <p:custDataLst>
      <p:tags r:id="rId5"/>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BEAUTIFY_FLAG" val="#wm#"/>
  <p:tag name="KSO_WM_TEMPLATE_CATEGORY" val="custom"/>
  <p:tag name="KSO_WM_TEMPLATE_INDEX" val="20205081"/>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p="http://schemas.openxmlformats.org/presentationml/2006/main">
  <p:tag name="KSO_WM_BEAUTIFY_FLAG" val="#wm#"/>
  <p:tag name="KSO_WM_TEMPLATE_CATEGORY" val="custom"/>
  <p:tag name="KSO_WM_TEMPLATE_INDEX" val="20205081"/>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p="http://schemas.openxmlformats.org/presentationml/2006/main">
  <p:tag name="KSO_WM_BEAUTIFY_FLAG" val="#wm#"/>
  <p:tag name="KSO_WM_TEMPLATE_CATEGORY" val="custom"/>
  <p:tag name="KSO_WM_TEMPLATE_INDEX" val="20205081"/>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p="http://schemas.openxmlformats.org/presentationml/2006/main">
  <p:tag name="KSO_WM_BEAUTIFY_FLAG" val="#wm#"/>
  <p:tag name="KSO_WM_TEMPLATE_CATEGORY" val="custom"/>
  <p:tag name="KSO_WM_TEMPLATE_INDEX" val="20205081"/>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xml><?xml version="1.0" encoding="utf-8"?>
<p:tagLst xmlns:p="http://schemas.openxmlformats.org/presentationml/2006/main">
  <p:tag name="KSO_WM_BEAUTIFY_FLAG" val="#wm#"/>
  <p:tag name="KSO_WM_TEMPLATE_CATEGORY" val="custom"/>
  <p:tag name="KSO_WM_TEMPLATE_INDEX" val="20205081"/>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p="http://schemas.openxmlformats.org/presentationml/2006/main">
  <p:tag name="KSO_WM_BEAUTIFY_FLAG" val="#wm#"/>
  <p:tag name="KSO_WM_TEMPLATE_CATEGORY" val="custom"/>
  <p:tag name="KSO_WM_TEMPLATE_INDEX" val="2020508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9.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1125</Words>
  <Application>WPS 演示</Application>
  <PresentationFormat>宽屏</PresentationFormat>
  <Paragraphs>88</Paragraphs>
  <Slides>9</Slides>
  <Notes>4</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9</vt:i4>
      </vt:variant>
    </vt:vector>
  </HeadingPairs>
  <TitlesOfParts>
    <vt:vector size="20" baseType="lpstr">
      <vt:lpstr>Arial</vt:lpstr>
      <vt:lpstr>宋体</vt:lpstr>
      <vt:lpstr>Wingdings</vt:lpstr>
      <vt:lpstr>Wingdings</vt:lpstr>
      <vt:lpstr>楷体</vt:lpstr>
      <vt:lpstr>Arial</vt:lpstr>
      <vt:lpstr>微软雅黑</vt:lpstr>
      <vt:lpstr>Arial Unicode MS</vt:lpstr>
      <vt:lpstr>Calibri</vt:lpstr>
      <vt:lpstr>WPS</vt:lpstr>
      <vt:lpstr>Equation.KSEE3</vt:lpstr>
      <vt:lpstr>DIP课设--Ghostnet</vt:lpstr>
      <vt:lpstr>冗余性</vt:lpstr>
      <vt:lpstr>背景:已有方法的核心思想</vt:lpstr>
      <vt:lpstr>Ghostnet方法:</vt:lpstr>
      <vt:lpstr>PowerPoint 演示文稿</vt:lpstr>
      <vt:lpstr>PowerPoint 演示文稿</vt:lpstr>
      <vt:lpstr>Ghost bottleneck:构建完整的网络基础单元</vt:lpstr>
      <vt:lpstr>实验测试结果</vt:lpstr>
      <vt:lpstr>实验测试结果</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My word is good</cp:lastModifiedBy>
  <cp:revision>160</cp:revision>
  <dcterms:created xsi:type="dcterms:W3CDTF">2019-06-19T02:08:00Z</dcterms:created>
  <dcterms:modified xsi:type="dcterms:W3CDTF">2025-12-23T07:18:47Z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AD4375C00843467DA8F8FAA27674A5C5_11</vt:lpwstr>
  </property>
</Properties>
</file>